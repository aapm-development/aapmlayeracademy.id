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[AUTHORITY / SOURCE MAP]
Primary evidence: local INDEX.md at presentation_evidence_20260901, commit 64761aa83 on analyst/presentation-evidence-refresh-20260901 (reported by user; local/unpushed).
Design direction: customer introduction only. Do not turn this into a technical/UAT deck.
Slide 1 farm photo is intentionally left as a replaceable media zone; do not use a fake application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BOUNDARY]
Use the final Android Wisman screenshot referenced by presentation_evidence_20260901/INDEX.md.
Screenshot = runtime display evidence only. It does NOT validate DB state, formulas, synchronization, completeness, or accuracy.
Current user note: Android Kandang 1 may show population 0 and HDP “—”; do not frame those values as KPI proof.
Customer copy is bounded to ease of capturing/retaining operational notes, not an offline-mode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BOUNDARY]
Use a final dashboard/monitoring screenshot from presentation_evidence_20260901/INDEX.md.
Crop away non-essential web header/navigation.
Explain HDP, FCR, production, population and alert in customer language.
Do not state that displayed figures are validated against DB or formulas unless separate evidence exists.
The screenshot demonstrates visible monitoring capability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CONTROL]
Customer introduction only. Keep this as a teaser of capability areas, not a full feature matrix.
Do not introduce unsupported claims about inventory automation, vaccine scheduling, synchronization, alerts, or historical completeness.
If any label is not evidenced by the approved INDEX.md, treat it as CANDIDATE and remove/rename before customer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[CTA]
Customer-facing close only. Replace CTA contact/PIC details at delivery time.
Do not add implementation promises, pricing, SLA, or integrations unless separately approved.
Recommended customer journey: short demo after this deck, using evidence-backed screens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PM_BASE">
    <p:bg>
      <p:bgPr>
        <a:solidFill>
          <a:srgbClr val="FFFDF9"/>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153326"/>
          </a:solidFill>
          <a:ln w="12700">
            <a:solidFill>
              <a:srgbClr val="153326"/>
            </a:solidFill>
            <a:prstDash val="solid"/>
          </a:ln>
        </p:spPr>
      </p:sp>
      <p:sp>
        <p:nvSpPr>
          <p:cNvPr id="25" name="Slide Number Placeholder 0"/>
          <p:cNvSpPr>
            <a:spLocks noGrp="1"/>
          </p:cNvSpPr>
          <p:nvPr>
            <p:ph type="sldNum" sz="quarter" idx="4294967295"/>
          </p:nvPr>
        </p:nvSpPr>
        <p:spPr>
          <a:xfrm>
            <a:off x="11384280" y="6446520"/>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7877F"/>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46520"/>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7877F"/>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20040"/>
            <a:ext cx="685800" cy="256032"/>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53326"/>
                </a:solidFill>
                <a:latin typeface="Inter" pitchFamily="34" charset="0"/>
                <a:ea typeface="Inter" pitchFamily="34" charset="-122"/>
                <a:cs typeface="Inter" pitchFamily="34" charset="-120"/>
              </a:rPr>
              <a:t>AAPM</a:t>
            </a:r>
            <a:endParaRPr lang="en-US" sz="1600" dirty="0"/>
          </a:p>
        </p:txBody>
      </p:sp>
      <p:sp>
        <p:nvSpPr>
          <p:cNvPr id="3" name="Text 1"/>
          <p:cNvSpPr txBox="1"/>
          <p:nvPr/>
        </p:nvSpPr>
        <p:spPr>
          <a:xfrm>
            <a:off x="1234440" y="320040"/>
            <a:ext cx="1188720" cy="256032"/>
          </a:xfrm>
          <a:prstGeom prst="rect">
            <a:avLst/>
          </a:prstGeom>
          <a:noFill/>
          <a:ln/>
        </p:spPr>
        <p:txBody>
          <a:bodyPr wrap="square" lIns="0" tIns="0" rIns="0" bIns="0" rtlCol="0" anchor="ctr">
            <a:normAutofit/>
          </a:bodyPr>
          <a:lstStyle/>
          <a:p>
            <a:pPr algn="l" indent="0" marL="0">
              <a:lnSpc>
                <a:spcPct val="100000"/>
              </a:lnSpc>
              <a:buNone/>
            </a:pPr>
            <a:r>
              <a:rPr lang="en-US" sz="1000" b="1" spc="170" kern="0" dirty="0">
                <a:solidFill>
                  <a:srgbClr val="2F813C"/>
                </a:solidFill>
                <a:latin typeface="Inter" pitchFamily="34" charset="0"/>
                <a:ea typeface="Inter" pitchFamily="34" charset="-122"/>
                <a:cs typeface="Inter" pitchFamily="34" charset="-120"/>
              </a:rPr>
              <a:t>LAYER FARM</a:t>
            </a:r>
            <a:endParaRPr lang="en-US" sz="1000" dirty="0"/>
          </a:p>
        </p:txBody>
      </p:sp>
      <p:sp>
        <p:nvSpPr>
          <p:cNvPr id="4" name="Text 2"/>
          <p:cNvSpPr txBox="1"/>
          <p:nvPr/>
        </p:nvSpPr>
        <p:spPr>
          <a:xfrm>
            <a:off x="548640" y="713232"/>
            <a:ext cx="3931920" cy="228600"/>
          </a:xfrm>
          <a:prstGeom prst="rect">
            <a:avLst/>
          </a:prstGeom>
          <a:noFill/>
          <a:ln/>
        </p:spPr>
        <p:txBody>
          <a:bodyPr wrap="square" lIns="0" tIns="0" rIns="0" bIns="0" rtlCol="0" anchor="ctr">
            <a:normAutofit/>
          </a:bodyPr>
          <a:lstStyle/>
          <a:p>
            <a:pPr algn="l" indent="0" marL="0">
              <a:lnSpc>
                <a:spcPct val="100000"/>
              </a:lnSpc>
              <a:buNone/>
            </a:pPr>
            <a:r>
              <a:rPr lang="en-US" sz="900" b="1" spc="140" kern="0" dirty="0">
                <a:solidFill>
                  <a:srgbClr val="2F813C"/>
                </a:solidFill>
                <a:latin typeface="Inter" pitchFamily="34" charset="0"/>
                <a:ea typeface="Inter" pitchFamily="34" charset="-122"/>
                <a:cs typeface="Inter" pitchFamily="34" charset="-120"/>
              </a:rPr>
              <a:t>PENGENALAN APLIKASI FARM</a:t>
            </a:r>
            <a:endParaRPr lang="en-US" sz="900" dirty="0"/>
          </a:p>
        </p:txBody>
      </p:sp>
      <p:sp>
        <p:nvSpPr>
          <p:cNvPr id="5" name="Shape 3"/>
          <p:cNvSpPr/>
          <p:nvPr/>
        </p:nvSpPr>
        <p:spPr>
          <a:xfrm>
            <a:off x="548640" y="987552"/>
            <a:ext cx="384048" cy="32004"/>
          </a:xfrm>
          <a:prstGeom prst="rect">
            <a:avLst/>
          </a:prstGeom>
          <a:solidFill>
            <a:srgbClr val="D84A1B"/>
          </a:solidFill>
          <a:ln w="12700">
            <a:solidFill>
              <a:srgbClr val="D84A1B"/>
            </a:solidFill>
            <a:prstDash val="solid"/>
          </a:ln>
        </p:spPr>
      </p:sp>
      <p:sp>
        <p:nvSpPr>
          <p:cNvPr id="6" name="Text 4"/>
          <p:cNvSpPr txBox="1"/>
          <p:nvPr/>
        </p:nvSpPr>
        <p:spPr>
          <a:xfrm>
            <a:off x="548640" y="1261872"/>
            <a:ext cx="5623560" cy="1170432"/>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153326"/>
                </a:solidFill>
                <a:latin typeface="Inter" pitchFamily="34" charset="0"/>
                <a:ea typeface="Inter" pitchFamily="34" charset="-122"/>
                <a:cs typeface="Inter" pitchFamily="34" charset="-120"/>
              </a:rPr>
              <a:t>Farm berjalan setiap hari.</a:t>
            </a:r>
            <a:endParaRPr lang="en-US" sz="3200" dirty="0"/>
          </a:p>
          <a:p>
            <a:pPr algn="l" indent="0" marL="0">
              <a:lnSpc>
                <a:spcPct val="100000"/>
              </a:lnSpc>
              <a:buNone/>
            </a:pPr>
            <a:r>
              <a:rPr lang="en-US" sz="3200" b="1" dirty="0">
                <a:solidFill>
                  <a:srgbClr val="153326"/>
                </a:solidFill>
                <a:latin typeface="Inter" pitchFamily="34" charset="0"/>
                <a:ea typeface="Inter" pitchFamily="34" charset="-122"/>
                <a:cs typeface="Inter" pitchFamily="34" charset="-120"/>
              </a:rPr>
              <a:t>Datanya jangan ikut tercecer.</a:t>
            </a:r>
            <a:endParaRPr lang="en-US" sz="3200" dirty="0"/>
          </a:p>
        </p:txBody>
      </p:sp>
      <p:sp>
        <p:nvSpPr>
          <p:cNvPr id="7" name="Text 5"/>
          <p:cNvSpPr txBox="1"/>
          <p:nvPr/>
        </p:nvSpPr>
        <p:spPr>
          <a:xfrm>
            <a:off x="566928" y="2606040"/>
            <a:ext cx="5074920" cy="804672"/>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66756D"/>
                </a:solidFill>
                <a:latin typeface="Inter" pitchFamily="34" charset="0"/>
                <a:ea typeface="Inter" pitchFamily="34" charset="-122"/>
                <a:cs typeface="Inter" pitchFamily="34" charset="-120"/>
              </a:rPr>
              <a:t>AAPM Layer Farm membantu mengubah aktivitas kandang menjadi catatan yang lebih mudah ditinjau — dari lapangan sampai monitoring.</a:t>
            </a:r>
            <a:endParaRPr lang="en-US" sz="1600" dirty="0"/>
          </a:p>
        </p:txBody>
      </p:sp>
      <p:sp>
        <p:nvSpPr>
          <p:cNvPr id="8" name="Shape 6"/>
          <p:cNvSpPr/>
          <p:nvPr/>
        </p:nvSpPr>
        <p:spPr>
          <a:xfrm>
            <a:off x="566928" y="3749040"/>
            <a:ext cx="1572768" cy="329184"/>
          </a:xfrm>
          <a:prstGeom prst="roundRect">
            <a:avLst>
              <a:gd name="adj" fmla="val 44444"/>
            </a:avLst>
          </a:prstGeom>
          <a:solidFill>
            <a:srgbClr val="FFFFFF"/>
          </a:solidFill>
          <a:ln w="9525">
            <a:solidFill>
              <a:srgbClr val="D7E1D6"/>
            </a:solidFill>
            <a:prstDash val="solid"/>
          </a:ln>
        </p:spPr>
      </p:sp>
      <p:sp>
        <p:nvSpPr>
          <p:cNvPr id="9" name="Shape 7"/>
          <p:cNvSpPr/>
          <p:nvPr/>
        </p:nvSpPr>
        <p:spPr>
          <a:xfrm>
            <a:off x="694944" y="3854196"/>
            <a:ext cx="100584" cy="100584"/>
          </a:xfrm>
          <a:prstGeom prst="ellipse">
            <a:avLst/>
          </a:prstGeom>
          <a:solidFill>
            <a:srgbClr val="B7ED0E"/>
          </a:solidFill>
          <a:ln w="12700">
            <a:solidFill>
              <a:srgbClr val="B7ED0E"/>
            </a:solidFill>
            <a:prstDash val="solid"/>
          </a:ln>
        </p:spPr>
      </p:sp>
      <p:sp>
        <p:nvSpPr>
          <p:cNvPr id="10" name="Text 8"/>
          <p:cNvSpPr txBox="1"/>
          <p:nvPr/>
        </p:nvSpPr>
        <p:spPr>
          <a:xfrm>
            <a:off x="877824" y="3776472"/>
            <a:ext cx="1170432" cy="265176"/>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53326"/>
                </a:solidFill>
                <a:latin typeface="Inter" pitchFamily="34" charset="0"/>
                <a:ea typeface="Inter" pitchFamily="34" charset="-122"/>
                <a:cs typeface="Inter" pitchFamily="34" charset="-120"/>
              </a:rPr>
              <a:t>Pencatatan harian</a:t>
            </a:r>
            <a:endParaRPr lang="en-US" sz="1000" dirty="0"/>
          </a:p>
        </p:txBody>
      </p:sp>
      <p:sp>
        <p:nvSpPr>
          <p:cNvPr id="11" name="Shape 9"/>
          <p:cNvSpPr/>
          <p:nvPr/>
        </p:nvSpPr>
        <p:spPr>
          <a:xfrm>
            <a:off x="2267712" y="3749040"/>
            <a:ext cx="1261872" cy="329184"/>
          </a:xfrm>
          <a:prstGeom prst="roundRect">
            <a:avLst>
              <a:gd name="adj" fmla="val 44444"/>
            </a:avLst>
          </a:prstGeom>
          <a:solidFill>
            <a:srgbClr val="FFFFFF"/>
          </a:solidFill>
          <a:ln w="9525">
            <a:solidFill>
              <a:srgbClr val="D7E1D6"/>
            </a:solidFill>
            <a:prstDash val="solid"/>
          </a:ln>
        </p:spPr>
      </p:sp>
      <p:sp>
        <p:nvSpPr>
          <p:cNvPr id="12" name="Shape 10"/>
          <p:cNvSpPr/>
          <p:nvPr/>
        </p:nvSpPr>
        <p:spPr>
          <a:xfrm>
            <a:off x="2395728" y="3854196"/>
            <a:ext cx="100584" cy="100584"/>
          </a:xfrm>
          <a:prstGeom prst="ellipse">
            <a:avLst/>
          </a:prstGeom>
          <a:solidFill>
            <a:srgbClr val="D84A1B"/>
          </a:solidFill>
          <a:ln w="12700">
            <a:solidFill>
              <a:srgbClr val="D84A1B"/>
            </a:solidFill>
            <a:prstDash val="solid"/>
          </a:ln>
        </p:spPr>
      </p:sp>
      <p:sp>
        <p:nvSpPr>
          <p:cNvPr id="13" name="Text 11"/>
          <p:cNvSpPr txBox="1"/>
          <p:nvPr/>
        </p:nvSpPr>
        <p:spPr>
          <a:xfrm>
            <a:off x="2578608" y="3776472"/>
            <a:ext cx="859536" cy="265176"/>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53326"/>
                </a:solidFill>
                <a:latin typeface="Inter" pitchFamily="34" charset="0"/>
                <a:ea typeface="Inter" pitchFamily="34" charset="-122"/>
                <a:cs typeface="Inter" pitchFamily="34" charset="-120"/>
              </a:rPr>
              <a:t>Monitoring</a:t>
            </a:r>
            <a:endParaRPr lang="en-US" sz="1000" dirty="0"/>
          </a:p>
        </p:txBody>
      </p:sp>
      <p:sp>
        <p:nvSpPr>
          <p:cNvPr id="14" name="Shape 12"/>
          <p:cNvSpPr/>
          <p:nvPr/>
        </p:nvSpPr>
        <p:spPr>
          <a:xfrm>
            <a:off x="3657600" y="3749040"/>
            <a:ext cx="1417320" cy="329184"/>
          </a:xfrm>
          <a:prstGeom prst="roundRect">
            <a:avLst>
              <a:gd name="adj" fmla="val 44444"/>
            </a:avLst>
          </a:prstGeom>
          <a:solidFill>
            <a:srgbClr val="FFFFFF"/>
          </a:solidFill>
          <a:ln w="9525">
            <a:solidFill>
              <a:srgbClr val="D7E1D6"/>
            </a:solidFill>
            <a:prstDash val="solid"/>
          </a:ln>
        </p:spPr>
      </p:sp>
      <p:sp>
        <p:nvSpPr>
          <p:cNvPr id="15" name="Shape 13"/>
          <p:cNvSpPr/>
          <p:nvPr/>
        </p:nvSpPr>
        <p:spPr>
          <a:xfrm>
            <a:off x="3785616" y="3854196"/>
            <a:ext cx="100584" cy="100584"/>
          </a:xfrm>
          <a:prstGeom prst="ellipse">
            <a:avLst/>
          </a:prstGeom>
          <a:solidFill>
            <a:srgbClr val="4E9A57"/>
          </a:solidFill>
          <a:ln w="12700">
            <a:solidFill>
              <a:srgbClr val="4E9A57"/>
            </a:solidFill>
            <a:prstDash val="solid"/>
          </a:ln>
        </p:spPr>
      </p:sp>
      <p:sp>
        <p:nvSpPr>
          <p:cNvPr id="16" name="Text 14"/>
          <p:cNvSpPr txBox="1"/>
          <p:nvPr/>
        </p:nvSpPr>
        <p:spPr>
          <a:xfrm>
            <a:off x="3968496" y="3776472"/>
            <a:ext cx="1014984" cy="265176"/>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53326"/>
                </a:solidFill>
                <a:latin typeface="Inter" pitchFamily="34" charset="0"/>
                <a:ea typeface="Inter" pitchFamily="34" charset="-122"/>
                <a:cs typeface="Inter" pitchFamily="34" charset="-120"/>
              </a:rPr>
              <a:t>Riwayat farm</a:t>
            </a:r>
            <a:endParaRPr lang="en-US" sz="1000" dirty="0"/>
          </a:p>
        </p:txBody>
      </p:sp>
      <p:sp>
        <p:nvSpPr>
          <p:cNvPr id="17" name="Text 15"/>
          <p:cNvSpPr txBox="1"/>
          <p:nvPr/>
        </p:nvSpPr>
        <p:spPr>
          <a:xfrm>
            <a:off x="566928" y="4736592"/>
            <a:ext cx="2331720" cy="237744"/>
          </a:xfrm>
          <a:prstGeom prst="rect">
            <a:avLst/>
          </a:prstGeom>
          <a:noFill/>
          <a:ln/>
        </p:spPr>
        <p:txBody>
          <a:bodyPr wrap="square" lIns="0" tIns="0" rIns="0" bIns="0" rtlCol="0" anchor="ctr">
            <a:normAutofit/>
          </a:bodyPr>
          <a:lstStyle/>
          <a:p>
            <a:pPr algn="l" indent="0" marL="0">
              <a:lnSpc>
                <a:spcPct val="100000"/>
              </a:lnSpc>
              <a:buNone/>
            </a:pPr>
            <a:r>
              <a:rPr lang="en-US" sz="900" b="1" spc="140" kern="0" dirty="0">
                <a:solidFill>
                  <a:srgbClr val="2F813C"/>
                </a:solidFill>
                <a:latin typeface="Inter" pitchFamily="34" charset="0"/>
                <a:ea typeface="Inter" pitchFamily="34" charset="-122"/>
                <a:cs typeface="Inter" pitchFamily="34" charset="-120"/>
              </a:rPr>
              <a:t>BUKAN SEKADAR FORM INPUT</a:t>
            </a:r>
            <a:endParaRPr lang="en-US" sz="900" dirty="0"/>
          </a:p>
        </p:txBody>
      </p:sp>
      <p:sp>
        <p:nvSpPr>
          <p:cNvPr id="18" name="Text 16"/>
          <p:cNvSpPr txBox="1"/>
          <p:nvPr/>
        </p:nvSpPr>
        <p:spPr>
          <a:xfrm>
            <a:off x="566928" y="5065776"/>
            <a:ext cx="4892040" cy="512064"/>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153326"/>
                </a:solidFill>
                <a:latin typeface="Inter" pitchFamily="34" charset="0"/>
                <a:ea typeface="Inter" pitchFamily="34" charset="-122"/>
                <a:cs typeface="Inter" pitchFamily="34" charset="-120"/>
              </a:rPr>
              <a:t>Gambaran singkat bagaimana data farm dapat dicatat, dibaca, dan ditindaklanjuti lebih rapi.</a:t>
            </a:r>
            <a:endParaRPr lang="en-US" sz="1300" dirty="0"/>
          </a:p>
        </p:txBody>
      </p:sp>
      <p:sp>
        <p:nvSpPr>
          <p:cNvPr id="19" name="Shape 17"/>
          <p:cNvSpPr/>
          <p:nvPr/>
        </p:nvSpPr>
        <p:spPr>
          <a:xfrm>
            <a:off x="6537960" y="594360"/>
            <a:ext cx="5056632" cy="3319272"/>
          </a:xfrm>
          <a:prstGeom prst="roundRect">
            <a:avLst>
              <a:gd name="adj" fmla="val 4408"/>
            </a:avLst>
          </a:prstGeom>
          <a:solidFill>
            <a:srgbClr val="EFF7EE"/>
          </a:solidFill>
          <a:ln w="15240">
            <a:solidFill>
              <a:srgbClr val="BED0BD"/>
            </a:solidFill>
            <a:prstDash val="solid"/>
          </a:ln>
        </p:spPr>
      </p:sp>
      <p:sp>
        <p:nvSpPr>
          <p:cNvPr id="20" name="Shape 18"/>
          <p:cNvSpPr/>
          <p:nvPr/>
        </p:nvSpPr>
        <p:spPr>
          <a:xfrm>
            <a:off x="6830568" y="2253996"/>
            <a:ext cx="4471416" cy="0"/>
          </a:xfrm>
          <a:prstGeom prst="line">
            <a:avLst/>
          </a:prstGeom>
          <a:noFill/>
          <a:ln w="10160">
            <a:solidFill>
              <a:srgbClr val="B7C9B8"/>
            </a:solidFill>
            <a:prstDash val="dash"/>
            <a:headEnd type="none"/>
            <a:tailEnd type="none"/>
          </a:ln>
        </p:spPr>
      </p:sp>
      <p:sp>
        <p:nvSpPr>
          <p:cNvPr id="21" name="Shape 19"/>
          <p:cNvSpPr/>
          <p:nvPr/>
        </p:nvSpPr>
        <p:spPr>
          <a:xfrm>
            <a:off x="9066276" y="868680"/>
            <a:ext cx="0" cy="2770632"/>
          </a:xfrm>
          <a:prstGeom prst="line">
            <a:avLst/>
          </a:prstGeom>
          <a:noFill/>
          <a:ln w="10160">
            <a:solidFill>
              <a:srgbClr val="B7C9B8"/>
            </a:solidFill>
            <a:prstDash val="dash"/>
            <a:headEnd type="none"/>
            <a:tailEnd type="none"/>
          </a:ln>
        </p:spPr>
      </p:sp>
      <p:sp>
        <p:nvSpPr>
          <p:cNvPr id="22" name="Shape 20"/>
          <p:cNvSpPr/>
          <p:nvPr/>
        </p:nvSpPr>
        <p:spPr>
          <a:xfrm>
            <a:off x="6775704" y="822960"/>
            <a:ext cx="1600200" cy="301752"/>
          </a:xfrm>
          <a:prstGeom prst="roundRect">
            <a:avLst>
              <a:gd name="adj" fmla="val 48485"/>
            </a:avLst>
          </a:prstGeom>
          <a:solidFill>
            <a:srgbClr val="FFFFFF"/>
          </a:solidFill>
          <a:ln w="10160">
            <a:solidFill>
              <a:srgbClr val="FFFFFF"/>
            </a:solidFill>
            <a:prstDash val="solid"/>
          </a:ln>
        </p:spPr>
      </p:sp>
      <p:sp>
        <p:nvSpPr>
          <p:cNvPr id="23" name="Text 21"/>
          <p:cNvSpPr txBox="1"/>
          <p:nvPr/>
        </p:nvSpPr>
        <p:spPr>
          <a:xfrm>
            <a:off x="6894576" y="850392"/>
            <a:ext cx="1353312" cy="237744"/>
          </a:xfrm>
          <a:prstGeom prst="rect">
            <a:avLst/>
          </a:prstGeom>
          <a:noFill/>
          <a:ln/>
        </p:spPr>
        <p:txBody>
          <a:bodyPr wrap="square" lIns="0" tIns="0" rIns="0" bIns="0" rtlCol="0" anchor="ctr">
            <a:normAutofit/>
          </a:bodyPr>
          <a:lstStyle/>
          <a:p>
            <a:pPr algn="l" indent="0" marL="0">
              <a:lnSpc>
                <a:spcPct val="100000"/>
              </a:lnSpc>
              <a:buNone/>
            </a:pPr>
            <a:r>
              <a:rPr lang="en-US" sz="800" b="1" spc="120" kern="0" dirty="0">
                <a:solidFill>
                  <a:srgbClr val="2F813C"/>
                </a:solidFill>
                <a:latin typeface="Inter" pitchFamily="34" charset="0"/>
                <a:ea typeface="Inter" pitchFamily="34" charset="-122"/>
                <a:cs typeface="Inter" pitchFamily="34" charset="-120"/>
              </a:rPr>
              <a:t>FARM VISUAL</a:t>
            </a:r>
            <a:endParaRPr lang="en-US" sz="800" dirty="0"/>
          </a:p>
        </p:txBody>
      </p:sp>
      <p:sp>
        <p:nvSpPr>
          <p:cNvPr id="24" name="Text 22"/>
          <p:cNvSpPr txBox="1"/>
          <p:nvPr/>
        </p:nvSpPr>
        <p:spPr>
          <a:xfrm>
            <a:off x="6995160" y="1997964"/>
            <a:ext cx="4142232" cy="38404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53326"/>
                </a:solidFill>
                <a:latin typeface="Inter" pitchFamily="34" charset="0"/>
                <a:ea typeface="Inter" pitchFamily="34" charset="-122"/>
                <a:cs typeface="Inter" pitchFamily="34" charset="-120"/>
              </a:rPr>
              <a:t>Visual farm / closed house</a:t>
            </a:r>
            <a:endParaRPr lang="en-US" sz="1600" dirty="0"/>
          </a:p>
        </p:txBody>
      </p:sp>
      <p:sp>
        <p:nvSpPr>
          <p:cNvPr id="25" name="Text 23"/>
          <p:cNvSpPr txBox="1"/>
          <p:nvPr/>
        </p:nvSpPr>
        <p:spPr>
          <a:xfrm>
            <a:off x="7178040" y="2418588"/>
            <a:ext cx="3776472" cy="530352"/>
          </a:xfrm>
          <a:prstGeom prst="rect">
            <a:avLst/>
          </a:prstGeom>
          <a:noFill/>
          <a:ln/>
        </p:spPr>
        <p:txBody>
          <a:bodyPr wrap="square" lIns="0" tIns="0" rIns="0" bIns="0" rtlCol="0" anchor="ctr">
            <a:normAutofit/>
          </a:bodyPr>
          <a:lstStyle/>
          <a:p>
            <a:pPr algn="ctr" indent="0" marL="0">
              <a:lnSpc>
                <a:spcPct val="100000"/>
              </a:lnSpc>
              <a:buNone/>
            </a:pPr>
            <a:r>
              <a:rPr lang="en-US" sz="900" dirty="0">
                <a:solidFill>
                  <a:srgbClr val="66756D"/>
                </a:solidFill>
                <a:latin typeface="Inter" pitchFamily="34" charset="0"/>
                <a:ea typeface="Inter" pitchFamily="34" charset="-122"/>
                <a:cs typeface="Inter" pitchFamily="34" charset="-120"/>
              </a:rPr>
              <a:t>Gunakan visual farm yang kuat; hindari stock image generik yang tidak relevan.</a:t>
            </a:r>
            <a:endParaRPr lang="en-US" sz="900" dirty="0"/>
          </a:p>
        </p:txBody>
      </p:sp>
      <p:sp>
        <p:nvSpPr>
          <p:cNvPr id="26" name="Shape 24"/>
          <p:cNvSpPr/>
          <p:nvPr/>
        </p:nvSpPr>
        <p:spPr>
          <a:xfrm>
            <a:off x="7525512" y="4114800"/>
            <a:ext cx="3456432" cy="1536192"/>
          </a:xfrm>
          <a:prstGeom prst="roundRect">
            <a:avLst>
              <a:gd name="adj" fmla="val 10714"/>
            </a:avLst>
          </a:prstGeom>
          <a:solidFill>
            <a:srgbClr val="FFFFFF"/>
          </a:solidFill>
          <a:ln w="10160">
            <a:solidFill>
              <a:srgbClr val="C8D9C8"/>
            </a:solidFill>
            <a:prstDash val="solid"/>
          </a:ln>
          <a:effectLst>
            <a:outerShdw sx="100000" sy="100000" kx="0" ky="0" algn="bl" rotWithShape="0" blurRad="25400" dist="50800" dir="2700000">
              <a:srgbClr val="4B6A57">
                <a:alpha val="14000"/>
              </a:srgbClr>
            </a:outerShdw>
          </a:effectLst>
        </p:spPr>
      </p:sp>
      <p:sp>
        <p:nvSpPr>
          <p:cNvPr id="27" name="Text 25"/>
          <p:cNvSpPr txBox="1"/>
          <p:nvPr/>
        </p:nvSpPr>
        <p:spPr>
          <a:xfrm>
            <a:off x="7754112" y="4288536"/>
            <a:ext cx="1298448" cy="228600"/>
          </a:xfrm>
          <a:prstGeom prst="rect">
            <a:avLst/>
          </a:prstGeom>
          <a:noFill/>
          <a:ln/>
        </p:spPr>
        <p:txBody>
          <a:bodyPr wrap="square" lIns="0" tIns="0" rIns="0" bIns="0" rtlCol="0" anchor="ctr">
            <a:normAutofit/>
          </a:bodyPr>
          <a:lstStyle/>
          <a:p>
            <a:pPr algn="l" indent="0" marL="0">
              <a:lnSpc>
                <a:spcPct val="100000"/>
              </a:lnSpc>
              <a:buNone/>
            </a:pPr>
            <a:r>
              <a:rPr lang="en-US" sz="800" b="1" spc="110" kern="0" dirty="0">
                <a:solidFill>
                  <a:srgbClr val="D84A1B"/>
                </a:solidFill>
                <a:latin typeface="Inter" pitchFamily="34" charset="0"/>
                <a:ea typeface="Inter" pitchFamily="34" charset="-122"/>
                <a:cs typeface="Inter" pitchFamily="34" charset="-120"/>
              </a:rPr>
              <a:t>GLIMPSE APLIKASI</a:t>
            </a:r>
            <a:endParaRPr lang="en-US" sz="800" dirty="0"/>
          </a:p>
        </p:txBody>
      </p:sp>
      <p:sp>
        <p:nvSpPr>
          <p:cNvPr id="28" name="Text 26"/>
          <p:cNvSpPr txBox="1"/>
          <p:nvPr/>
        </p:nvSpPr>
        <p:spPr>
          <a:xfrm>
            <a:off x="7754112" y="4599432"/>
            <a:ext cx="1938528" cy="585216"/>
          </a:xfrm>
          <a:prstGeom prst="rect">
            <a:avLst/>
          </a:prstGeom>
          <a:noFill/>
          <a:ln/>
        </p:spPr>
        <p:txBody>
          <a:bodyPr wrap="square" lIns="0" tIns="0" rIns="0" bIns="0" rtlCol="0" anchor="ctr">
            <a:normAutofit/>
          </a:bodyPr>
          <a:lstStyle/>
          <a:p>
            <a:pPr algn="l" indent="0" marL="0">
              <a:lnSpc>
                <a:spcPct val="100000"/>
              </a:lnSpc>
              <a:buNone/>
            </a:pPr>
            <a:r>
              <a:rPr lang="en-US" sz="1300" b="1" dirty="0">
                <a:solidFill>
                  <a:srgbClr val="153326"/>
                </a:solidFill>
                <a:latin typeface="Inter" pitchFamily="34" charset="0"/>
                <a:ea typeface="Inter" pitchFamily="34" charset="-122"/>
                <a:cs typeface="Inter" pitchFamily="34" charset="-120"/>
              </a:rPr>
              <a:t>Screenshot kecil saja —</a:t>
            </a:r>
            <a:endParaRPr lang="en-US" sz="1300" dirty="0"/>
          </a:p>
          <a:p>
            <a:pPr algn="l" indent="0" marL="0">
              <a:lnSpc>
                <a:spcPct val="100000"/>
              </a:lnSpc>
              <a:buNone/>
            </a:pPr>
            <a:r>
              <a:rPr lang="en-US" sz="1300" b="1" dirty="0">
                <a:solidFill>
                  <a:srgbClr val="153326"/>
                </a:solidFill>
                <a:latin typeface="Inter" pitchFamily="34" charset="0"/>
                <a:ea typeface="Inter" pitchFamily="34" charset="-122"/>
                <a:cs typeface="Inter" pitchFamily="34" charset="-120"/>
              </a:rPr>
              <a:t>biarkan farm tetap jadi hero.</a:t>
            </a:r>
            <a:endParaRPr lang="en-US" sz="1300" dirty="0"/>
          </a:p>
        </p:txBody>
      </p:sp>
      <p:sp>
        <p:nvSpPr>
          <p:cNvPr id="29" name="Shape 27"/>
          <p:cNvSpPr/>
          <p:nvPr/>
        </p:nvSpPr>
        <p:spPr>
          <a:xfrm>
            <a:off x="9738360" y="4343400"/>
            <a:ext cx="932688" cy="1051560"/>
          </a:xfrm>
          <a:prstGeom prst="roundRect">
            <a:avLst>
              <a:gd name="adj" fmla="val 15686"/>
            </a:avLst>
          </a:prstGeom>
          <a:solidFill>
            <a:srgbClr val="EFF7EE"/>
          </a:solidFill>
          <a:ln w="15240">
            <a:solidFill>
              <a:srgbClr val="BED0BD"/>
            </a:solidFill>
            <a:prstDash val="solid"/>
          </a:ln>
        </p:spPr>
      </p:sp>
      <p:sp>
        <p:nvSpPr>
          <p:cNvPr id="30" name="Shape 28"/>
          <p:cNvSpPr/>
          <p:nvPr/>
        </p:nvSpPr>
        <p:spPr>
          <a:xfrm>
            <a:off x="10030968" y="4869180"/>
            <a:ext cx="347472" cy="0"/>
          </a:xfrm>
          <a:prstGeom prst="line">
            <a:avLst/>
          </a:prstGeom>
          <a:noFill/>
          <a:ln w="10160">
            <a:solidFill>
              <a:srgbClr val="B7C9B8"/>
            </a:solidFill>
            <a:prstDash val="dash"/>
            <a:headEnd type="none"/>
            <a:tailEnd type="none"/>
          </a:ln>
        </p:spPr>
      </p:sp>
      <p:sp>
        <p:nvSpPr>
          <p:cNvPr id="31" name="Shape 29"/>
          <p:cNvSpPr/>
          <p:nvPr/>
        </p:nvSpPr>
        <p:spPr>
          <a:xfrm>
            <a:off x="10204704" y="4617720"/>
            <a:ext cx="0" cy="502920"/>
          </a:xfrm>
          <a:prstGeom prst="line">
            <a:avLst/>
          </a:prstGeom>
          <a:noFill/>
          <a:ln w="10160">
            <a:solidFill>
              <a:srgbClr val="B7C9B8"/>
            </a:solidFill>
            <a:prstDash val="dash"/>
            <a:headEnd type="none"/>
            <a:tailEnd type="none"/>
          </a:ln>
        </p:spPr>
      </p:sp>
      <p:sp>
        <p:nvSpPr>
          <p:cNvPr id="32" name="Shape 30"/>
          <p:cNvSpPr/>
          <p:nvPr/>
        </p:nvSpPr>
        <p:spPr>
          <a:xfrm>
            <a:off x="9976104" y="4572000"/>
            <a:ext cx="1600200" cy="301752"/>
          </a:xfrm>
          <a:prstGeom prst="roundRect">
            <a:avLst>
              <a:gd name="adj" fmla="val 48485"/>
            </a:avLst>
          </a:prstGeom>
          <a:solidFill>
            <a:srgbClr val="FFFFFF"/>
          </a:solidFill>
          <a:ln w="10160">
            <a:solidFill>
              <a:srgbClr val="FFFFFF"/>
            </a:solidFill>
            <a:prstDash val="solid"/>
          </a:ln>
        </p:spPr>
      </p:sp>
      <p:sp>
        <p:nvSpPr>
          <p:cNvPr id="33" name="Text 31"/>
          <p:cNvSpPr txBox="1"/>
          <p:nvPr/>
        </p:nvSpPr>
        <p:spPr>
          <a:xfrm>
            <a:off x="10094976" y="4599432"/>
            <a:ext cx="1353312" cy="237744"/>
          </a:xfrm>
          <a:prstGeom prst="rect">
            <a:avLst/>
          </a:prstGeom>
          <a:noFill/>
          <a:ln/>
        </p:spPr>
        <p:txBody>
          <a:bodyPr wrap="square" lIns="0" tIns="0" rIns="0" bIns="0" rtlCol="0" anchor="ctr">
            <a:normAutofit/>
          </a:bodyPr>
          <a:lstStyle/>
          <a:p>
            <a:pPr algn="l" indent="0" marL="0">
              <a:lnSpc>
                <a:spcPct val="100000"/>
              </a:lnSpc>
              <a:buNone/>
            </a:pPr>
            <a:r>
              <a:rPr lang="en-US" sz="800" b="1" spc="120" kern="0" dirty="0">
                <a:solidFill>
                  <a:srgbClr val="2F813C"/>
                </a:solidFill>
                <a:latin typeface="Inter" pitchFamily="34" charset="0"/>
                <a:ea typeface="Inter" pitchFamily="34" charset="-122"/>
                <a:cs typeface="Inter" pitchFamily="34" charset="-120"/>
              </a:rPr>
              <a:t>DASHBOARD EVIDENCE</a:t>
            </a:r>
            <a:endParaRPr lang="en-US" sz="800" dirty="0"/>
          </a:p>
        </p:txBody>
      </p:sp>
      <p:sp>
        <p:nvSpPr>
          <p:cNvPr id="34" name="Text 32"/>
          <p:cNvSpPr txBox="1"/>
          <p:nvPr/>
        </p:nvSpPr>
        <p:spPr>
          <a:xfrm>
            <a:off x="10195560" y="4613148"/>
            <a:ext cx="18288" cy="38404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53326"/>
                </a:solidFill>
                <a:latin typeface="Inter" pitchFamily="34" charset="0"/>
                <a:ea typeface="Inter" pitchFamily="34" charset="-122"/>
                <a:cs typeface="Inter" pitchFamily="34" charset="-120"/>
              </a:rPr>
              <a:t>APP</a:t>
            </a:r>
            <a:endParaRPr lang="en-US" sz="1600" dirty="0"/>
          </a:p>
        </p:txBody>
      </p:sp>
      <p:sp>
        <p:nvSpPr>
          <p:cNvPr id="35" name="Text 33"/>
          <p:cNvSpPr txBox="1"/>
          <p:nvPr/>
        </p:nvSpPr>
        <p:spPr>
          <a:xfrm>
            <a:off x="10378440" y="5033772"/>
            <a:ext cx="-347472" cy="530352"/>
          </a:xfrm>
          <a:prstGeom prst="rect">
            <a:avLst/>
          </a:prstGeom>
          <a:noFill/>
          <a:ln/>
        </p:spPr>
        <p:txBody>
          <a:bodyPr wrap="square" lIns="0" tIns="0" rIns="0" bIns="0" rtlCol="0" anchor="ctr">
            <a:normAutofit/>
          </a:bodyPr>
          <a:lstStyle/>
          <a:p>
            <a:pPr algn="ctr" indent="0" marL="0">
              <a:lnSpc>
                <a:spcPct val="100000"/>
              </a:lnSpc>
              <a:buNone/>
            </a:pPr>
            <a:r>
              <a:rPr lang="en-US" sz="900" dirty="0">
                <a:solidFill>
                  <a:srgbClr val="66756D"/>
                </a:solidFill>
                <a:latin typeface="Inter" pitchFamily="34" charset="0"/>
                <a:ea typeface="Inter" pitchFamily="34" charset="-122"/>
                <a:cs typeface="Inter" pitchFamily="34" charset="-120"/>
              </a:rPr>
              <a:t>crop</a:t>
            </a:r>
            <a:endParaRPr lang="en-US" sz="900" dirty="0"/>
          </a:p>
        </p:txBody>
      </p:sp>
      <p:sp>
        <p:nvSpPr>
          <p:cNvPr id="36" name="Text 34"/>
          <p:cNvSpPr txBox="1"/>
          <p:nvPr/>
        </p:nvSpPr>
        <p:spPr>
          <a:xfrm>
            <a:off x="566928" y="6172200"/>
            <a:ext cx="4206240" cy="228600"/>
          </a:xfrm>
          <a:prstGeom prst="rect">
            <a:avLst/>
          </a:prstGeom>
          <a:noFill/>
          <a:ln/>
        </p:spPr>
        <p:txBody>
          <a:bodyPr wrap="square" lIns="0" tIns="0" rIns="0" bIns="0" rtlCol="0" anchor="ctr">
            <a:normAutofit/>
          </a:bodyPr>
          <a:lstStyle/>
          <a:p>
            <a:pPr algn="l" indent="0" marL="0">
              <a:lnSpc>
                <a:spcPct val="100000"/>
              </a:lnSpc>
              <a:buNone/>
            </a:pPr>
            <a:r>
              <a:rPr lang="en-US" sz="800" dirty="0">
                <a:solidFill>
                  <a:srgbClr val="66756D"/>
                </a:solidFill>
                <a:latin typeface="Inter" pitchFamily="34" charset="0"/>
                <a:ea typeface="Inter" pitchFamily="34" charset="-122"/>
                <a:cs typeface="Inter" pitchFamily="34" charset="-120"/>
              </a:rPr>
              <a:t>Template pelanggan • 16:9 • seluruh elemen editable</a:t>
            </a:r>
            <a:endParaRPr lang="en-US" sz="800" dirty="0"/>
          </a:p>
        </p:txBody>
      </p:sp>
      <p:sp>
        <p:nvSpPr>
          <p:cNvPr id="25" name="Slide Number Placeholder 0"/>
          <p:cNvSpPr>
            <a:spLocks noGrp="1"/>
          </p:cNvSpPr>
          <p:nvPr>
            <p:ph type="sldNum" sz="quarter" idx="4294967295"/>
          </p:nvPr>
        </p:nvSpPr>
        <p:spPr>
          <a:xfrm>
            <a:off x="11384280" y="6446520"/>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7877F"/>
                </a:solidFill>
                <a:latin typeface="Inter"/>
                <a:ea typeface="Inter"/>
                <a:cs typeface="Inter"/>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685800" cy="256032"/>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53326"/>
                </a:solidFill>
                <a:latin typeface="Inter" pitchFamily="34" charset="0"/>
                <a:ea typeface="Inter" pitchFamily="34" charset="-122"/>
                <a:cs typeface="Inter" pitchFamily="34" charset="-120"/>
              </a:rPr>
              <a:t>AAPM</a:t>
            </a:r>
            <a:endParaRPr lang="en-US" sz="1600" dirty="0"/>
          </a:p>
        </p:txBody>
      </p:sp>
      <p:sp>
        <p:nvSpPr>
          <p:cNvPr id="3" name="Text 1"/>
          <p:cNvSpPr txBox="1"/>
          <p:nvPr/>
        </p:nvSpPr>
        <p:spPr>
          <a:xfrm>
            <a:off x="1234440" y="320040"/>
            <a:ext cx="1188720" cy="256032"/>
          </a:xfrm>
          <a:prstGeom prst="rect">
            <a:avLst/>
          </a:prstGeom>
          <a:noFill/>
          <a:ln/>
        </p:spPr>
        <p:txBody>
          <a:bodyPr wrap="square" lIns="0" tIns="0" rIns="0" bIns="0" rtlCol="0" anchor="ctr">
            <a:normAutofit/>
          </a:bodyPr>
          <a:lstStyle/>
          <a:p>
            <a:pPr algn="l" indent="0" marL="0">
              <a:lnSpc>
                <a:spcPct val="100000"/>
              </a:lnSpc>
              <a:buNone/>
            </a:pPr>
            <a:r>
              <a:rPr lang="en-US" sz="1000" b="1" spc="170" kern="0" dirty="0">
                <a:solidFill>
                  <a:srgbClr val="2F813C"/>
                </a:solidFill>
                <a:latin typeface="Inter" pitchFamily="34" charset="0"/>
                <a:ea typeface="Inter" pitchFamily="34" charset="-122"/>
                <a:cs typeface="Inter" pitchFamily="34" charset="-120"/>
              </a:rPr>
              <a:t>LAYER FARM</a:t>
            </a:r>
            <a:endParaRPr lang="en-US" sz="1000" dirty="0"/>
          </a:p>
        </p:txBody>
      </p:sp>
      <p:sp>
        <p:nvSpPr>
          <p:cNvPr id="4" name="Text 2"/>
          <p:cNvSpPr txBox="1"/>
          <p:nvPr/>
        </p:nvSpPr>
        <p:spPr>
          <a:xfrm>
            <a:off x="548640" y="713232"/>
            <a:ext cx="3931920" cy="228600"/>
          </a:xfrm>
          <a:prstGeom prst="rect">
            <a:avLst/>
          </a:prstGeom>
          <a:noFill/>
          <a:ln/>
        </p:spPr>
        <p:txBody>
          <a:bodyPr wrap="square" lIns="0" tIns="0" rIns="0" bIns="0" rtlCol="0" anchor="ctr">
            <a:normAutofit/>
          </a:bodyPr>
          <a:lstStyle/>
          <a:p>
            <a:pPr algn="l" indent="0" marL="0">
              <a:lnSpc>
                <a:spcPct val="100000"/>
              </a:lnSpc>
              <a:buNone/>
            </a:pPr>
            <a:r>
              <a:rPr lang="en-US" sz="900" b="1" spc="140" kern="0" dirty="0">
                <a:solidFill>
                  <a:srgbClr val="2F813C"/>
                </a:solidFill>
                <a:latin typeface="Inter" pitchFamily="34" charset="0"/>
                <a:ea typeface="Inter" pitchFamily="34" charset="-122"/>
                <a:cs typeface="Inter" pitchFamily="34" charset="-120"/>
              </a:rPr>
              <a:t>CATAT DI LAPANGAN</a:t>
            </a:r>
            <a:endParaRPr lang="en-US" sz="900" dirty="0"/>
          </a:p>
        </p:txBody>
      </p:sp>
      <p:sp>
        <p:nvSpPr>
          <p:cNvPr id="5" name="Shape 3"/>
          <p:cNvSpPr/>
          <p:nvPr/>
        </p:nvSpPr>
        <p:spPr>
          <a:xfrm>
            <a:off x="548640" y="987552"/>
            <a:ext cx="384048" cy="32004"/>
          </a:xfrm>
          <a:prstGeom prst="rect">
            <a:avLst/>
          </a:prstGeom>
          <a:solidFill>
            <a:srgbClr val="D84A1B"/>
          </a:solidFill>
          <a:ln w="12700">
            <a:solidFill>
              <a:srgbClr val="D84A1B"/>
            </a:solidFill>
            <a:prstDash val="solid"/>
          </a:ln>
        </p:spPr>
      </p:sp>
      <p:sp>
        <p:nvSpPr>
          <p:cNvPr id="6" name="Text 4"/>
          <p:cNvSpPr txBox="1"/>
          <p:nvPr/>
        </p:nvSpPr>
        <p:spPr>
          <a:xfrm>
            <a:off x="548640" y="1234440"/>
            <a:ext cx="5166360" cy="1078992"/>
          </a:xfrm>
          <a:prstGeom prst="rect">
            <a:avLst/>
          </a:prstGeom>
          <a:noFill/>
          <a:ln/>
        </p:spPr>
        <p:txBody>
          <a:bodyPr wrap="square" lIns="0" tIns="0" rIns="0" bIns="0" rtlCol="0" anchor="ctr">
            <a:normAutofit/>
          </a:bodyPr>
          <a:lstStyle/>
          <a:p>
            <a:pPr algn="l" indent="0" marL="0">
              <a:lnSpc>
                <a:spcPct val="100000"/>
              </a:lnSpc>
              <a:buNone/>
            </a:pPr>
            <a:r>
              <a:rPr lang="en-US" sz="3400" b="1" dirty="0">
                <a:solidFill>
                  <a:srgbClr val="153326"/>
                </a:solidFill>
                <a:latin typeface="Inter" pitchFamily="34" charset="0"/>
                <a:ea typeface="Inter" pitchFamily="34" charset="-122"/>
                <a:cs typeface="Inter" pitchFamily="34" charset="-120"/>
              </a:rPr>
              <a:t>Catat Kapan Saja,</a:t>
            </a:r>
            <a:endParaRPr lang="en-US" sz="3400" dirty="0"/>
          </a:p>
          <a:p>
            <a:pPr algn="l" indent="0" marL="0">
              <a:lnSpc>
                <a:spcPct val="100000"/>
              </a:lnSpc>
              <a:buNone/>
            </a:pPr>
            <a:r>
              <a:rPr lang="en-US" sz="3400" b="1" dirty="0">
                <a:solidFill>
                  <a:srgbClr val="153326"/>
                </a:solidFill>
                <a:latin typeface="Inter" pitchFamily="34" charset="0"/>
                <a:ea typeface="Inter" pitchFamily="34" charset="-122"/>
                <a:cs typeface="Inter" pitchFamily="34" charset="-120"/>
              </a:rPr>
              <a:t>Tanpa Takut Lupa</a:t>
            </a:r>
            <a:endParaRPr lang="en-US" sz="3400" dirty="0"/>
          </a:p>
        </p:txBody>
      </p:sp>
      <p:sp>
        <p:nvSpPr>
          <p:cNvPr id="7" name="Text 5"/>
          <p:cNvSpPr txBox="1"/>
          <p:nvPr/>
        </p:nvSpPr>
        <p:spPr>
          <a:xfrm>
            <a:off x="566928" y="2487168"/>
            <a:ext cx="4800600" cy="804672"/>
          </a:xfrm>
          <a:prstGeom prst="rect">
            <a:avLst/>
          </a:prstGeom>
          <a:noFill/>
          <a:ln/>
        </p:spPr>
        <p:txBody>
          <a:bodyPr wrap="square" lIns="0" tIns="0" rIns="0" bIns="0" rtlCol="0" anchor="ctr">
            <a:normAutofit/>
          </a:bodyPr>
          <a:lstStyle/>
          <a:p>
            <a:pPr algn="l" indent="0" marL="0">
              <a:lnSpc>
                <a:spcPct val="100000"/>
              </a:lnSpc>
              <a:buNone/>
            </a:pPr>
            <a:r>
              <a:rPr lang="en-US" sz="1500" dirty="0">
                <a:solidFill>
                  <a:srgbClr val="66756D"/>
                </a:solidFill>
                <a:latin typeface="Inter" pitchFamily="34" charset="0"/>
                <a:ea typeface="Inter" pitchFamily="34" charset="-122"/>
                <a:cs typeface="Inter" pitchFamily="34" charset="-120"/>
              </a:rPr>
              <a:t>Aktivitas harian lebih mudah dicatat saat masih dekat dengan kejadian di kandang — bukan menunggu semuanya menumpuk di akhir hari.</a:t>
            </a:r>
            <a:endParaRPr lang="en-US" sz="1500" dirty="0"/>
          </a:p>
        </p:txBody>
      </p:sp>
      <p:sp>
        <p:nvSpPr>
          <p:cNvPr id="8" name="Shape 6"/>
          <p:cNvSpPr/>
          <p:nvPr/>
        </p:nvSpPr>
        <p:spPr>
          <a:xfrm>
            <a:off x="612648" y="3602736"/>
            <a:ext cx="137160" cy="137160"/>
          </a:xfrm>
          <a:prstGeom prst="ellipse">
            <a:avLst/>
          </a:prstGeom>
          <a:solidFill>
            <a:srgbClr val="B7ED0E"/>
          </a:solidFill>
          <a:ln w="12700">
            <a:solidFill>
              <a:srgbClr val="B7ED0E"/>
            </a:solidFill>
            <a:prstDash val="solid"/>
          </a:ln>
        </p:spPr>
      </p:sp>
      <p:sp>
        <p:nvSpPr>
          <p:cNvPr id="9" name="Text 7"/>
          <p:cNvSpPr txBox="1"/>
          <p:nvPr/>
        </p:nvSpPr>
        <p:spPr>
          <a:xfrm>
            <a:off x="877824" y="3493008"/>
            <a:ext cx="1280160" cy="31089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53326"/>
                </a:solidFill>
                <a:latin typeface="Inter" pitchFamily="34" charset="0"/>
                <a:ea typeface="Inter" pitchFamily="34" charset="-122"/>
                <a:cs typeface="Inter" pitchFamily="34" charset="-120"/>
              </a:rPr>
              <a:t>Produksi telur</a:t>
            </a:r>
            <a:endParaRPr lang="en-US" sz="1200" dirty="0"/>
          </a:p>
        </p:txBody>
      </p:sp>
      <p:sp>
        <p:nvSpPr>
          <p:cNvPr id="10" name="Text 8"/>
          <p:cNvSpPr txBox="1"/>
          <p:nvPr/>
        </p:nvSpPr>
        <p:spPr>
          <a:xfrm>
            <a:off x="1993392" y="3493008"/>
            <a:ext cx="3200400" cy="384048"/>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66756D"/>
                </a:solidFill>
                <a:latin typeface="Inter" pitchFamily="34" charset="0"/>
                <a:ea typeface="Inter" pitchFamily="34" charset="-122"/>
                <a:cs typeface="Inter" pitchFamily="34" charset="-120"/>
              </a:rPr>
              <a:t>Masukkan hasil harian pada alur yang sama.</a:t>
            </a:r>
            <a:endParaRPr lang="en-US" sz="1000" dirty="0"/>
          </a:p>
        </p:txBody>
      </p:sp>
      <p:sp>
        <p:nvSpPr>
          <p:cNvPr id="11" name="Shape 9"/>
          <p:cNvSpPr/>
          <p:nvPr/>
        </p:nvSpPr>
        <p:spPr>
          <a:xfrm>
            <a:off x="612648" y="4151376"/>
            <a:ext cx="137160" cy="137160"/>
          </a:xfrm>
          <a:prstGeom prst="ellipse">
            <a:avLst/>
          </a:prstGeom>
          <a:solidFill>
            <a:srgbClr val="D84A1B"/>
          </a:solidFill>
          <a:ln w="12700">
            <a:solidFill>
              <a:srgbClr val="D84A1B"/>
            </a:solidFill>
            <a:prstDash val="solid"/>
          </a:ln>
        </p:spPr>
      </p:sp>
      <p:sp>
        <p:nvSpPr>
          <p:cNvPr id="12" name="Text 10"/>
          <p:cNvSpPr txBox="1"/>
          <p:nvPr/>
        </p:nvSpPr>
        <p:spPr>
          <a:xfrm>
            <a:off x="877824" y="4041648"/>
            <a:ext cx="1280160" cy="31089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53326"/>
                </a:solidFill>
                <a:latin typeface="Inter" pitchFamily="34" charset="0"/>
                <a:ea typeface="Inter" pitchFamily="34" charset="-122"/>
                <a:cs typeface="Inter" pitchFamily="34" charset="-120"/>
              </a:rPr>
              <a:t>Pakan</a:t>
            </a:r>
            <a:endParaRPr lang="en-US" sz="1200" dirty="0"/>
          </a:p>
        </p:txBody>
      </p:sp>
      <p:sp>
        <p:nvSpPr>
          <p:cNvPr id="13" name="Text 11"/>
          <p:cNvSpPr txBox="1"/>
          <p:nvPr/>
        </p:nvSpPr>
        <p:spPr>
          <a:xfrm>
            <a:off x="1993392" y="4041648"/>
            <a:ext cx="3200400" cy="384048"/>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66756D"/>
                </a:solidFill>
                <a:latin typeface="Inter" pitchFamily="34" charset="0"/>
                <a:ea typeface="Inter" pitchFamily="34" charset="-122"/>
                <a:cs typeface="Inter" pitchFamily="34" charset="-120"/>
              </a:rPr>
              <a:t>Catat penggunaan agar histori lebih mudah ditelusuri.</a:t>
            </a:r>
            <a:endParaRPr lang="en-US" sz="1000" dirty="0"/>
          </a:p>
        </p:txBody>
      </p:sp>
      <p:sp>
        <p:nvSpPr>
          <p:cNvPr id="14" name="Shape 12"/>
          <p:cNvSpPr/>
          <p:nvPr/>
        </p:nvSpPr>
        <p:spPr>
          <a:xfrm>
            <a:off x="612648" y="4700016"/>
            <a:ext cx="137160" cy="137160"/>
          </a:xfrm>
          <a:prstGeom prst="ellipse">
            <a:avLst/>
          </a:prstGeom>
          <a:solidFill>
            <a:srgbClr val="4E9A57"/>
          </a:solidFill>
          <a:ln w="12700">
            <a:solidFill>
              <a:srgbClr val="4E9A57"/>
            </a:solidFill>
            <a:prstDash val="solid"/>
          </a:ln>
        </p:spPr>
      </p:sp>
      <p:sp>
        <p:nvSpPr>
          <p:cNvPr id="15" name="Text 13"/>
          <p:cNvSpPr txBox="1"/>
          <p:nvPr/>
        </p:nvSpPr>
        <p:spPr>
          <a:xfrm>
            <a:off x="877824" y="4590288"/>
            <a:ext cx="1280160" cy="31089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53326"/>
                </a:solidFill>
                <a:latin typeface="Inter" pitchFamily="34" charset="0"/>
                <a:ea typeface="Inter" pitchFamily="34" charset="-122"/>
                <a:cs typeface="Inter" pitchFamily="34" charset="-120"/>
              </a:rPr>
              <a:t>Populasi</a:t>
            </a:r>
            <a:endParaRPr lang="en-US" sz="1200" dirty="0"/>
          </a:p>
        </p:txBody>
      </p:sp>
      <p:sp>
        <p:nvSpPr>
          <p:cNvPr id="16" name="Text 14"/>
          <p:cNvSpPr txBox="1"/>
          <p:nvPr/>
        </p:nvSpPr>
        <p:spPr>
          <a:xfrm>
            <a:off x="1993392" y="4590288"/>
            <a:ext cx="3200400" cy="384048"/>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66756D"/>
                </a:solidFill>
                <a:latin typeface="Inter" pitchFamily="34" charset="0"/>
                <a:ea typeface="Inter" pitchFamily="34" charset="-122"/>
                <a:cs typeface="Inter" pitchFamily="34" charset="-120"/>
              </a:rPr>
              <a:t>Perubahan harian tidak hilang dari konteks siklus.</a:t>
            </a:r>
            <a:endParaRPr lang="en-US" sz="1000" dirty="0"/>
          </a:p>
        </p:txBody>
      </p:sp>
      <p:sp>
        <p:nvSpPr>
          <p:cNvPr id="17" name="Shape 15"/>
          <p:cNvSpPr/>
          <p:nvPr/>
        </p:nvSpPr>
        <p:spPr>
          <a:xfrm>
            <a:off x="612648" y="5248656"/>
            <a:ext cx="137160" cy="137160"/>
          </a:xfrm>
          <a:prstGeom prst="ellipse">
            <a:avLst/>
          </a:prstGeom>
          <a:solidFill>
            <a:srgbClr val="F3D04E"/>
          </a:solidFill>
          <a:ln w="12700">
            <a:solidFill>
              <a:srgbClr val="F3D04E"/>
            </a:solidFill>
            <a:prstDash val="solid"/>
          </a:ln>
        </p:spPr>
      </p:sp>
      <p:sp>
        <p:nvSpPr>
          <p:cNvPr id="18" name="Text 16"/>
          <p:cNvSpPr txBox="1"/>
          <p:nvPr/>
        </p:nvSpPr>
        <p:spPr>
          <a:xfrm>
            <a:off x="877824" y="5138928"/>
            <a:ext cx="1280160" cy="310896"/>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153326"/>
                </a:solidFill>
                <a:latin typeface="Inter" pitchFamily="34" charset="0"/>
                <a:ea typeface="Inter" pitchFamily="34" charset="-122"/>
                <a:cs typeface="Inter" pitchFamily="34" charset="-120"/>
              </a:rPr>
              <a:t>Kesehatan</a:t>
            </a:r>
            <a:endParaRPr lang="en-US" sz="1200" dirty="0"/>
          </a:p>
        </p:txBody>
      </p:sp>
      <p:sp>
        <p:nvSpPr>
          <p:cNvPr id="19" name="Text 17"/>
          <p:cNvSpPr txBox="1"/>
          <p:nvPr/>
        </p:nvSpPr>
        <p:spPr>
          <a:xfrm>
            <a:off x="1993392" y="5138928"/>
            <a:ext cx="3200400" cy="384048"/>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66756D"/>
                </a:solidFill>
                <a:latin typeface="Inter" pitchFamily="34" charset="0"/>
                <a:ea typeface="Inter" pitchFamily="34" charset="-122"/>
                <a:cs typeface="Inter" pitchFamily="34" charset="-120"/>
              </a:rPr>
              <a:t>Catatan tindakan menjadi bagian dari histori farm.</a:t>
            </a:r>
            <a:endParaRPr lang="en-US" sz="1000" dirty="0"/>
          </a:p>
        </p:txBody>
      </p:sp>
      <p:sp>
        <p:nvSpPr>
          <p:cNvPr id="20" name="Text 18"/>
          <p:cNvSpPr txBox="1"/>
          <p:nvPr/>
        </p:nvSpPr>
        <p:spPr>
          <a:xfrm>
            <a:off x="566928" y="5806440"/>
            <a:ext cx="5166360" cy="438912"/>
          </a:xfrm>
          <a:prstGeom prst="rect">
            <a:avLst/>
          </a:prstGeom>
          <a:noFill/>
          <a:ln/>
        </p:spPr>
        <p:txBody>
          <a:bodyPr wrap="square" lIns="0" tIns="0" rIns="0" bIns="0" rtlCol="0" anchor="ctr">
            <a:normAutofit/>
          </a:bodyPr>
          <a:lstStyle/>
          <a:p>
            <a:pPr algn="l" indent="0" marL="0">
              <a:lnSpc>
                <a:spcPct val="100000"/>
              </a:lnSpc>
              <a:buNone/>
            </a:pPr>
            <a:r>
              <a:rPr lang="en-US" sz="1100" b="1" dirty="0">
                <a:solidFill>
                  <a:srgbClr val="2F813C"/>
                </a:solidFill>
                <a:latin typeface="Inter" pitchFamily="34" charset="0"/>
                <a:ea typeface="Inter" pitchFamily="34" charset="-122"/>
                <a:cs typeface="Inter" pitchFamily="34" charset="-120"/>
              </a:rPr>
              <a:t>Pesan pelanggan: “lebih dekat ke kejadian, lebih kecil peluang catatan tertinggal.”</a:t>
            </a:r>
            <a:endParaRPr lang="en-US" sz="1100" dirty="0"/>
          </a:p>
        </p:txBody>
      </p:sp>
      <p:sp>
        <p:nvSpPr>
          <p:cNvPr id="21" name="Shape 19"/>
          <p:cNvSpPr/>
          <p:nvPr/>
        </p:nvSpPr>
        <p:spPr>
          <a:xfrm>
            <a:off x="6400800" y="749808"/>
            <a:ext cx="5212080" cy="5440680"/>
          </a:xfrm>
          <a:prstGeom prst="roundRect">
            <a:avLst>
              <a:gd name="adj" fmla="val 3860"/>
            </a:avLst>
          </a:prstGeom>
          <a:solidFill>
            <a:srgbClr val="EFF7EE"/>
          </a:solidFill>
          <a:ln w="10160">
            <a:solidFill>
              <a:srgbClr val="D7E1D6"/>
            </a:solidFill>
            <a:prstDash val="solid"/>
          </a:ln>
        </p:spPr>
      </p:sp>
      <p:sp>
        <p:nvSpPr>
          <p:cNvPr id="22" name="Shape 20"/>
          <p:cNvSpPr/>
          <p:nvPr/>
        </p:nvSpPr>
        <p:spPr>
          <a:xfrm>
            <a:off x="7717536" y="1033272"/>
            <a:ext cx="2377440" cy="4681728"/>
          </a:xfrm>
          <a:prstGeom prst="roundRect">
            <a:avLst>
              <a:gd name="adj" fmla="val 10769"/>
            </a:avLst>
          </a:prstGeom>
          <a:solidFill>
            <a:srgbClr val="0E251B"/>
          </a:solidFill>
          <a:ln w="12700">
            <a:solidFill>
              <a:srgbClr val="0E251B"/>
            </a:solidFill>
            <a:prstDash val="solid"/>
          </a:ln>
        </p:spPr>
      </p:sp>
      <p:sp>
        <p:nvSpPr>
          <p:cNvPr id="23" name="Shape 21"/>
          <p:cNvSpPr/>
          <p:nvPr/>
        </p:nvSpPr>
        <p:spPr>
          <a:xfrm>
            <a:off x="7836408" y="1197864"/>
            <a:ext cx="2139696" cy="4352544"/>
          </a:xfrm>
          <a:prstGeom prst="roundRect">
            <a:avLst>
              <a:gd name="adj" fmla="val 8547"/>
            </a:avLst>
          </a:prstGeom>
          <a:solidFill>
            <a:srgbClr val="F7F9F5"/>
          </a:solidFill>
          <a:ln w="6350">
            <a:solidFill>
              <a:srgbClr val="405449"/>
            </a:solidFill>
            <a:prstDash val="solid"/>
          </a:ln>
        </p:spPr>
      </p:sp>
      <p:sp>
        <p:nvSpPr>
          <p:cNvPr id="24" name="Shape 22"/>
          <p:cNvSpPr/>
          <p:nvPr/>
        </p:nvSpPr>
        <p:spPr>
          <a:xfrm>
            <a:off x="8573414" y="1106424"/>
            <a:ext cx="665683" cy="82296"/>
          </a:xfrm>
          <a:prstGeom prst="roundRect">
            <a:avLst>
              <a:gd name="adj" fmla="val 55556"/>
            </a:avLst>
          </a:prstGeom>
          <a:solidFill>
            <a:srgbClr val="223B30"/>
          </a:solidFill>
          <a:ln w="12700">
            <a:solidFill>
              <a:srgbClr val="223B30"/>
            </a:solidFill>
            <a:prstDash val="solid"/>
          </a:ln>
        </p:spPr>
      </p:sp>
      <p:sp>
        <p:nvSpPr>
          <p:cNvPr id="25" name="Text 23"/>
          <p:cNvSpPr txBox="1"/>
          <p:nvPr/>
        </p:nvSpPr>
        <p:spPr>
          <a:xfrm>
            <a:off x="8037576" y="2999598"/>
            <a:ext cx="1737360" cy="530352"/>
          </a:xfrm>
          <a:prstGeom prst="rect">
            <a:avLst/>
          </a:prstGeom>
          <a:noFill/>
          <a:ln/>
        </p:spPr>
        <p:txBody>
          <a:bodyPr wrap="square" lIns="0" tIns="0" rIns="0" bIns="0" rtlCol="0" anchor="ctr">
            <a:normAutofit/>
          </a:bodyPr>
          <a:lstStyle/>
          <a:p>
            <a:pPr algn="ctr" indent="0" marL="0">
              <a:lnSpc>
                <a:spcPct val="100000"/>
              </a:lnSpc>
              <a:buNone/>
            </a:pPr>
            <a:r>
              <a:rPr lang="en-US" sz="1100" b="1" dirty="0">
                <a:solidFill>
                  <a:srgbClr val="2F813C"/>
                </a:solidFill>
                <a:latin typeface="Inter" pitchFamily="34" charset="0"/>
                <a:ea typeface="Inter" pitchFamily="34" charset="-122"/>
                <a:cs typeface="Inter" pitchFamily="34" charset="-120"/>
              </a:rPr>
              <a:t>DROP SCREENSHOT</a:t>
            </a:r>
            <a:endParaRPr lang="en-US" sz="1100" dirty="0"/>
          </a:p>
          <a:p>
            <a:pPr algn="ctr" indent="0" marL="0">
              <a:lnSpc>
                <a:spcPct val="100000"/>
              </a:lnSpc>
              <a:buNone/>
            </a:pPr>
            <a:r>
              <a:rPr lang="en-US" sz="1100" b="1" dirty="0">
                <a:solidFill>
                  <a:srgbClr val="2F813C"/>
                </a:solidFill>
                <a:latin typeface="Inter" pitchFamily="34" charset="0"/>
                <a:ea typeface="Inter" pitchFamily="34" charset="-122"/>
                <a:cs typeface="Inter" pitchFamily="34" charset="-120"/>
              </a:rPr>
              <a:t>ANDROID WISMAN</a:t>
            </a:r>
            <a:endParaRPr lang="en-US" sz="1100" dirty="0"/>
          </a:p>
        </p:txBody>
      </p:sp>
      <p:sp>
        <p:nvSpPr>
          <p:cNvPr id="26" name="Text 24"/>
          <p:cNvSpPr txBox="1"/>
          <p:nvPr/>
        </p:nvSpPr>
        <p:spPr>
          <a:xfrm>
            <a:off x="8028432" y="3608222"/>
            <a:ext cx="1755648" cy="530352"/>
          </a:xfrm>
          <a:prstGeom prst="rect">
            <a:avLst/>
          </a:prstGeom>
          <a:noFill/>
          <a:ln/>
        </p:spPr>
        <p:txBody>
          <a:bodyPr wrap="square" lIns="0" tIns="0" rIns="0" bIns="0" rtlCol="0" anchor="ctr">
            <a:normAutofit/>
          </a:bodyPr>
          <a:lstStyle/>
          <a:p>
            <a:pPr algn="ctr" indent="0" marL="0">
              <a:lnSpc>
                <a:spcPct val="100000"/>
              </a:lnSpc>
              <a:buNone/>
            </a:pPr>
            <a:r>
              <a:rPr lang="en-US" sz="800" dirty="0">
                <a:solidFill>
                  <a:srgbClr val="66756D"/>
                </a:solidFill>
                <a:latin typeface="Inter" pitchFamily="34" charset="0"/>
                <a:ea typeface="Inter" pitchFamily="34" charset="-122"/>
                <a:cs typeface="Inter" pitchFamily="34" charset="-120"/>
              </a:rPr>
              <a:t>Crop aplikasi saja — tanpa browser/header web</a:t>
            </a:r>
            <a:endParaRPr lang="en-US" sz="800" dirty="0"/>
          </a:p>
        </p:txBody>
      </p:sp>
      <p:sp>
        <p:nvSpPr>
          <p:cNvPr id="27" name="Text 25"/>
          <p:cNvSpPr txBox="1"/>
          <p:nvPr/>
        </p:nvSpPr>
        <p:spPr>
          <a:xfrm>
            <a:off x="6748272" y="1078992"/>
            <a:ext cx="777240" cy="219456"/>
          </a:xfrm>
          <a:prstGeom prst="rect">
            <a:avLst/>
          </a:prstGeom>
          <a:noFill/>
          <a:ln/>
        </p:spPr>
        <p:txBody>
          <a:bodyPr wrap="square" lIns="0" tIns="0" rIns="0" bIns="0" rtlCol="0" anchor="ctr">
            <a:normAutofit/>
          </a:bodyPr>
          <a:lstStyle/>
          <a:p>
            <a:pPr algn="l" indent="0" marL="0">
              <a:lnSpc>
                <a:spcPct val="100000"/>
              </a:lnSpc>
              <a:buNone/>
            </a:pPr>
            <a:r>
              <a:rPr lang="en-US" sz="800" b="1" spc="120" kern="0" dirty="0">
                <a:solidFill>
                  <a:srgbClr val="D84A1B"/>
                </a:solidFill>
                <a:latin typeface="Inter" pitchFamily="34" charset="0"/>
                <a:ea typeface="Inter" pitchFamily="34" charset="-122"/>
                <a:cs typeface="Inter" pitchFamily="34" charset="-120"/>
              </a:rPr>
              <a:t>EVIDENCE SLOT</a:t>
            </a:r>
            <a:endParaRPr lang="en-US" sz="800" dirty="0"/>
          </a:p>
        </p:txBody>
      </p:sp>
      <p:sp>
        <p:nvSpPr>
          <p:cNvPr id="28" name="Text 26"/>
          <p:cNvSpPr txBox="1"/>
          <p:nvPr/>
        </p:nvSpPr>
        <p:spPr>
          <a:xfrm>
            <a:off x="6748272" y="1408176"/>
            <a:ext cx="768096" cy="932688"/>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53326"/>
                </a:solidFill>
                <a:latin typeface="Inter" pitchFamily="34" charset="0"/>
                <a:ea typeface="Inter" pitchFamily="34" charset="-122"/>
                <a:cs typeface="Inter" pitchFamily="34" charset="-120"/>
              </a:rPr>
              <a:t>Gunakan screenshot Android asli Wisman dari INDEX.md.</a:t>
            </a:r>
            <a:endParaRPr lang="en-US" sz="1000" dirty="0"/>
          </a:p>
        </p:txBody>
      </p:sp>
      <p:sp>
        <p:nvSpPr>
          <p:cNvPr id="29" name="Text 27"/>
          <p:cNvSpPr txBox="1"/>
          <p:nvPr/>
        </p:nvSpPr>
        <p:spPr>
          <a:xfrm>
            <a:off x="10378440" y="1417320"/>
            <a:ext cx="896112" cy="1143000"/>
          </a:xfrm>
          <a:prstGeom prst="rect">
            <a:avLst/>
          </a:prstGeom>
          <a:noFill/>
          <a:ln/>
        </p:spPr>
        <p:txBody>
          <a:bodyPr wrap="square" lIns="0" tIns="0" rIns="0" bIns="0" rtlCol="0" anchor="ctr">
            <a:normAutofit/>
          </a:bodyPr>
          <a:lstStyle/>
          <a:p>
            <a:pPr algn="l" indent="0" marL="0">
              <a:lnSpc>
                <a:spcPct val="100000"/>
              </a:lnSpc>
              <a:buNone/>
            </a:pPr>
            <a:r>
              <a:rPr lang="en-US" sz="900" dirty="0">
                <a:solidFill>
                  <a:srgbClr val="66756D"/>
                </a:solidFill>
                <a:latin typeface="Inter" pitchFamily="34" charset="0"/>
                <a:ea typeface="Inter" pitchFamily="34" charset="-122"/>
                <a:cs typeface="Inter" pitchFamily="34" charset="-120"/>
              </a:rPr>
              <a:t>Crop ke area aplikasi saja. Hindari status bar/elemen yang tidak membantu pesan utama bila tidak diperlukan.</a:t>
            </a:r>
            <a:endParaRPr lang="en-US" sz="900" dirty="0"/>
          </a:p>
        </p:txBody>
      </p:sp>
      <p:sp>
        <p:nvSpPr>
          <p:cNvPr id="30" name="Shape 28"/>
          <p:cNvSpPr/>
          <p:nvPr/>
        </p:nvSpPr>
        <p:spPr>
          <a:xfrm>
            <a:off x="10442448" y="2852928"/>
            <a:ext cx="594360" cy="0"/>
          </a:xfrm>
          <a:prstGeom prst="line">
            <a:avLst/>
          </a:prstGeom>
          <a:noFill/>
          <a:ln w="17780">
            <a:solidFill>
              <a:srgbClr val="D84A1B"/>
            </a:solidFill>
            <a:prstDash val="solid"/>
            <a:headEnd type="none"/>
            <a:tailEnd type="none"/>
          </a:ln>
        </p:spPr>
      </p:sp>
      <p:sp>
        <p:nvSpPr>
          <p:cNvPr id="31" name="Text 29"/>
          <p:cNvSpPr txBox="1"/>
          <p:nvPr/>
        </p:nvSpPr>
        <p:spPr>
          <a:xfrm>
            <a:off x="10378440" y="2999232"/>
            <a:ext cx="868680" cy="914400"/>
          </a:xfrm>
          <a:prstGeom prst="rect">
            <a:avLst/>
          </a:prstGeom>
          <a:noFill/>
          <a:ln/>
        </p:spPr>
        <p:txBody>
          <a:bodyPr wrap="square" lIns="0" tIns="0" rIns="0" bIns="0" rtlCol="0" anchor="ctr">
            <a:normAutofit/>
          </a:bodyPr>
          <a:lstStyle/>
          <a:p>
            <a:pPr algn="l" indent="0" marL="0">
              <a:lnSpc>
                <a:spcPct val="100000"/>
              </a:lnSpc>
              <a:buNone/>
            </a:pPr>
            <a:r>
              <a:rPr lang="en-US" sz="900" b="1" dirty="0">
                <a:solidFill>
                  <a:srgbClr val="D84A1B"/>
                </a:solidFill>
                <a:latin typeface="Inter" pitchFamily="34" charset="0"/>
                <a:ea typeface="Inter" pitchFamily="34" charset="-122"/>
                <a:cs typeface="Inter" pitchFamily="34" charset="-120"/>
              </a:rPr>
              <a:t>Jangan ubah screenshot menjadi “bukti akurasi data”.</a:t>
            </a:r>
            <a:endParaRPr lang="en-US" sz="900" dirty="0"/>
          </a:p>
        </p:txBody>
      </p:sp>
      <p:sp>
        <p:nvSpPr>
          <p:cNvPr id="25" name="Slide Number Placeholder 0"/>
          <p:cNvSpPr>
            <a:spLocks noGrp="1"/>
          </p:cNvSpPr>
          <p:nvPr>
            <p:ph type="sldNum" sz="quarter" idx="4294967295"/>
          </p:nvPr>
        </p:nvSpPr>
        <p:spPr>
          <a:xfrm>
            <a:off x="11384280" y="6446520"/>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7877F"/>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685800" cy="256032"/>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53326"/>
                </a:solidFill>
                <a:latin typeface="Inter" pitchFamily="34" charset="0"/>
                <a:ea typeface="Inter" pitchFamily="34" charset="-122"/>
                <a:cs typeface="Inter" pitchFamily="34" charset="-120"/>
              </a:rPr>
              <a:t>AAPM</a:t>
            </a:r>
            <a:endParaRPr lang="en-US" sz="1600" dirty="0"/>
          </a:p>
        </p:txBody>
      </p:sp>
      <p:sp>
        <p:nvSpPr>
          <p:cNvPr id="3" name="Text 1"/>
          <p:cNvSpPr txBox="1"/>
          <p:nvPr/>
        </p:nvSpPr>
        <p:spPr>
          <a:xfrm>
            <a:off x="1234440" y="320040"/>
            <a:ext cx="1188720" cy="256032"/>
          </a:xfrm>
          <a:prstGeom prst="rect">
            <a:avLst/>
          </a:prstGeom>
          <a:noFill/>
          <a:ln/>
        </p:spPr>
        <p:txBody>
          <a:bodyPr wrap="square" lIns="0" tIns="0" rIns="0" bIns="0" rtlCol="0" anchor="ctr">
            <a:normAutofit/>
          </a:bodyPr>
          <a:lstStyle/>
          <a:p>
            <a:pPr algn="l" indent="0" marL="0">
              <a:lnSpc>
                <a:spcPct val="100000"/>
              </a:lnSpc>
              <a:buNone/>
            </a:pPr>
            <a:r>
              <a:rPr lang="en-US" sz="1000" b="1" spc="170" kern="0" dirty="0">
                <a:solidFill>
                  <a:srgbClr val="2F813C"/>
                </a:solidFill>
                <a:latin typeface="Inter" pitchFamily="34" charset="0"/>
                <a:ea typeface="Inter" pitchFamily="34" charset="-122"/>
                <a:cs typeface="Inter" pitchFamily="34" charset="-120"/>
              </a:rPr>
              <a:t>LAYER FARM</a:t>
            </a:r>
            <a:endParaRPr lang="en-US" sz="1000" dirty="0"/>
          </a:p>
        </p:txBody>
      </p:sp>
      <p:sp>
        <p:nvSpPr>
          <p:cNvPr id="4" name="Text 2"/>
          <p:cNvSpPr txBox="1"/>
          <p:nvPr/>
        </p:nvSpPr>
        <p:spPr>
          <a:xfrm>
            <a:off x="548640" y="713232"/>
            <a:ext cx="3931920" cy="228600"/>
          </a:xfrm>
          <a:prstGeom prst="rect">
            <a:avLst/>
          </a:prstGeom>
          <a:noFill/>
          <a:ln/>
        </p:spPr>
        <p:txBody>
          <a:bodyPr wrap="square" lIns="0" tIns="0" rIns="0" bIns="0" rtlCol="0" anchor="ctr">
            <a:normAutofit/>
          </a:bodyPr>
          <a:lstStyle/>
          <a:p>
            <a:pPr algn="l" indent="0" marL="0">
              <a:lnSpc>
                <a:spcPct val="100000"/>
              </a:lnSpc>
              <a:buNone/>
            </a:pPr>
            <a:r>
              <a:rPr lang="en-US" sz="900" b="1" spc="140" kern="0" dirty="0">
                <a:solidFill>
                  <a:srgbClr val="2F813C"/>
                </a:solidFill>
                <a:latin typeface="Inter" pitchFamily="34" charset="0"/>
                <a:ea typeface="Inter" pitchFamily="34" charset="-122"/>
                <a:cs typeface="Inter" pitchFamily="34" charset="-120"/>
              </a:rPr>
              <a:t>BACA KONDISI FARM</a:t>
            </a:r>
            <a:endParaRPr lang="en-US" sz="900" dirty="0"/>
          </a:p>
        </p:txBody>
      </p:sp>
      <p:sp>
        <p:nvSpPr>
          <p:cNvPr id="5" name="Shape 3"/>
          <p:cNvSpPr/>
          <p:nvPr/>
        </p:nvSpPr>
        <p:spPr>
          <a:xfrm>
            <a:off x="548640" y="987552"/>
            <a:ext cx="384048" cy="32004"/>
          </a:xfrm>
          <a:prstGeom prst="rect">
            <a:avLst/>
          </a:prstGeom>
          <a:solidFill>
            <a:srgbClr val="D84A1B"/>
          </a:solidFill>
          <a:ln w="12700">
            <a:solidFill>
              <a:srgbClr val="D84A1B"/>
            </a:solidFill>
            <a:prstDash val="solid"/>
          </a:ln>
        </p:spPr>
      </p:sp>
      <p:sp>
        <p:nvSpPr>
          <p:cNvPr id="6" name="Text 4"/>
          <p:cNvSpPr txBox="1"/>
          <p:nvPr/>
        </p:nvSpPr>
        <p:spPr>
          <a:xfrm>
            <a:off x="548640" y="1170432"/>
            <a:ext cx="5486400" cy="1051560"/>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153326"/>
                </a:solidFill>
                <a:latin typeface="Inter" pitchFamily="34" charset="0"/>
                <a:ea typeface="Inter" pitchFamily="34" charset="-122"/>
                <a:cs typeface="Inter" pitchFamily="34" charset="-120"/>
              </a:rPr>
              <a:t>Dari catatan harian,</a:t>
            </a:r>
            <a:endParaRPr lang="en-US" sz="3100" dirty="0"/>
          </a:p>
          <a:p>
            <a:pPr algn="l" indent="0" marL="0">
              <a:lnSpc>
                <a:spcPct val="100000"/>
              </a:lnSpc>
              <a:buNone/>
            </a:pPr>
            <a:r>
              <a:rPr lang="en-US" sz="3100" b="1" dirty="0">
                <a:solidFill>
                  <a:srgbClr val="153326"/>
                </a:solidFill>
                <a:latin typeface="Inter" pitchFamily="34" charset="0"/>
                <a:ea typeface="Inter" pitchFamily="34" charset="-122"/>
                <a:cs typeface="Inter" pitchFamily="34" charset="-120"/>
              </a:rPr>
              <a:t>jadi gambaran yang lebih mudah dibaca.</a:t>
            </a:r>
            <a:endParaRPr lang="en-US" sz="3100" dirty="0"/>
          </a:p>
        </p:txBody>
      </p:sp>
      <p:sp>
        <p:nvSpPr>
          <p:cNvPr id="7" name="Text 5"/>
          <p:cNvSpPr txBox="1"/>
          <p:nvPr/>
        </p:nvSpPr>
        <p:spPr>
          <a:xfrm>
            <a:off x="566928" y="2359152"/>
            <a:ext cx="5257800" cy="822960"/>
          </a:xfrm>
          <a:prstGeom prst="rect">
            <a:avLst/>
          </a:prstGeom>
          <a:noFill/>
          <a:ln/>
        </p:spPr>
        <p:txBody>
          <a:bodyPr wrap="square" lIns="0" tIns="0" rIns="0" bIns="0" rtlCol="0" anchor="ctr">
            <a:normAutofit/>
          </a:bodyPr>
          <a:lstStyle/>
          <a:p>
            <a:pPr algn="l" indent="0" marL="0">
              <a:lnSpc>
                <a:spcPct val="100000"/>
              </a:lnSpc>
              <a:buNone/>
            </a:pPr>
            <a:r>
              <a:rPr lang="en-US" sz="1450" dirty="0">
                <a:solidFill>
                  <a:srgbClr val="66756D"/>
                </a:solidFill>
                <a:latin typeface="Inter" pitchFamily="34" charset="0"/>
                <a:ea typeface="Inter" pitchFamily="34" charset="-122"/>
                <a:cs typeface="Inter" pitchFamily="34" charset="-120"/>
              </a:rPr>
              <a:t>Dashboard membantu pelanggan melihat apa yang perlu diperhatikan lebih dulu. Bukan menggantikan keputusan operasional — tetapi membuat sinyal penting lebih cepat terlihat.</a:t>
            </a:r>
            <a:endParaRPr lang="en-US" sz="1450" dirty="0"/>
          </a:p>
        </p:txBody>
      </p:sp>
      <p:sp>
        <p:nvSpPr>
          <p:cNvPr id="8" name="Shape 6"/>
          <p:cNvSpPr/>
          <p:nvPr/>
        </p:nvSpPr>
        <p:spPr>
          <a:xfrm>
            <a:off x="566928" y="3529584"/>
            <a:ext cx="2331720" cy="621792"/>
          </a:xfrm>
          <a:prstGeom prst="roundRect">
            <a:avLst>
              <a:gd name="adj" fmla="val 19118"/>
            </a:avLst>
          </a:prstGeom>
          <a:solidFill>
            <a:srgbClr val="FFFFFF"/>
          </a:solidFill>
          <a:ln w="10160">
            <a:solidFill>
              <a:srgbClr val="D9E3DA"/>
            </a:solidFill>
            <a:prstDash val="solid"/>
          </a:ln>
        </p:spPr>
      </p:sp>
      <p:sp>
        <p:nvSpPr>
          <p:cNvPr id="9" name="Shape 7"/>
          <p:cNvSpPr/>
          <p:nvPr/>
        </p:nvSpPr>
        <p:spPr>
          <a:xfrm>
            <a:off x="566928" y="3529584"/>
            <a:ext cx="64008" cy="621792"/>
          </a:xfrm>
          <a:prstGeom prst="rect">
            <a:avLst/>
          </a:prstGeom>
          <a:solidFill>
            <a:srgbClr val="2F813C"/>
          </a:solidFill>
          <a:ln w="12700">
            <a:solidFill>
              <a:srgbClr val="2F813C"/>
            </a:solidFill>
            <a:prstDash val="solid"/>
          </a:ln>
        </p:spPr>
      </p:sp>
      <p:sp>
        <p:nvSpPr>
          <p:cNvPr id="10" name="Text 8"/>
          <p:cNvSpPr txBox="1"/>
          <p:nvPr/>
        </p:nvSpPr>
        <p:spPr>
          <a:xfrm>
            <a:off x="768096" y="3611880"/>
            <a:ext cx="786384" cy="22860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2F813C"/>
                </a:solidFill>
                <a:latin typeface="Inter" pitchFamily="34" charset="0"/>
                <a:ea typeface="Inter" pitchFamily="34" charset="-122"/>
                <a:cs typeface="Inter" pitchFamily="34" charset="-120"/>
              </a:rPr>
              <a:t>HDP</a:t>
            </a:r>
            <a:endParaRPr lang="en-US" sz="1200" dirty="0"/>
          </a:p>
        </p:txBody>
      </p:sp>
      <p:sp>
        <p:nvSpPr>
          <p:cNvPr id="11" name="Text 9"/>
          <p:cNvSpPr txBox="1"/>
          <p:nvPr/>
        </p:nvSpPr>
        <p:spPr>
          <a:xfrm>
            <a:off x="1463040" y="3602736"/>
            <a:ext cx="1307592" cy="384048"/>
          </a:xfrm>
          <a:prstGeom prst="rect">
            <a:avLst/>
          </a:prstGeom>
          <a:noFill/>
          <a:ln/>
        </p:spPr>
        <p:txBody>
          <a:bodyPr wrap="square" lIns="0" tIns="0" rIns="0" bIns="0" rtlCol="0" anchor="ctr">
            <a:normAutofit/>
          </a:bodyPr>
          <a:lstStyle/>
          <a:p>
            <a:pPr algn="l" indent="0" marL="0">
              <a:lnSpc>
                <a:spcPct val="100000"/>
              </a:lnSpc>
              <a:buNone/>
            </a:pPr>
            <a:r>
              <a:rPr lang="en-US" sz="870" dirty="0">
                <a:solidFill>
                  <a:srgbClr val="66756D"/>
                </a:solidFill>
                <a:latin typeface="Inter" pitchFamily="34" charset="0"/>
                <a:ea typeface="Inter" pitchFamily="34" charset="-122"/>
                <a:cs typeface="Inter" pitchFamily="34" charset="-120"/>
              </a:rPr>
              <a:t>Seberapa produktif populasi ayam menghasilkan telur.</a:t>
            </a:r>
            <a:endParaRPr lang="en-US" sz="870" dirty="0"/>
          </a:p>
        </p:txBody>
      </p:sp>
      <p:sp>
        <p:nvSpPr>
          <p:cNvPr id="12" name="Shape 10"/>
          <p:cNvSpPr/>
          <p:nvPr/>
        </p:nvSpPr>
        <p:spPr>
          <a:xfrm>
            <a:off x="3172968" y="3529584"/>
            <a:ext cx="2331720" cy="621792"/>
          </a:xfrm>
          <a:prstGeom prst="roundRect">
            <a:avLst>
              <a:gd name="adj" fmla="val 19118"/>
            </a:avLst>
          </a:prstGeom>
          <a:solidFill>
            <a:srgbClr val="FFFFFF"/>
          </a:solidFill>
          <a:ln w="10160">
            <a:solidFill>
              <a:srgbClr val="D9E3DA"/>
            </a:solidFill>
            <a:prstDash val="solid"/>
          </a:ln>
        </p:spPr>
      </p:sp>
      <p:sp>
        <p:nvSpPr>
          <p:cNvPr id="13" name="Shape 11"/>
          <p:cNvSpPr/>
          <p:nvPr/>
        </p:nvSpPr>
        <p:spPr>
          <a:xfrm>
            <a:off x="3172968" y="3529584"/>
            <a:ext cx="64008" cy="621792"/>
          </a:xfrm>
          <a:prstGeom prst="rect">
            <a:avLst/>
          </a:prstGeom>
          <a:solidFill>
            <a:srgbClr val="D84A1B"/>
          </a:solidFill>
          <a:ln w="12700">
            <a:solidFill>
              <a:srgbClr val="D84A1B"/>
            </a:solidFill>
            <a:prstDash val="solid"/>
          </a:ln>
        </p:spPr>
      </p:sp>
      <p:sp>
        <p:nvSpPr>
          <p:cNvPr id="14" name="Text 12"/>
          <p:cNvSpPr txBox="1"/>
          <p:nvPr/>
        </p:nvSpPr>
        <p:spPr>
          <a:xfrm>
            <a:off x="3374136" y="3611880"/>
            <a:ext cx="786384" cy="22860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D84A1B"/>
                </a:solidFill>
                <a:latin typeface="Inter" pitchFamily="34" charset="0"/>
                <a:ea typeface="Inter" pitchFamily="34" charset="-122"/>
                <a:cs typeface="Inter" pitchFamily="34" charset="-120"/>
              </a:rPr>
              <a:t>FCR</a:t>
            </a:r>
            <a:endParaRPr lang="en-US" sz="1200" dirty="0"/>
          </a:p>
        </p:txBody>
      </p:sp>
      <p:sp>
        <p:nvSpPr>
          <p:cNvPr id="15" name="Text 13"/>
          <p:cNvSpPr txBox="1"/>
          <p:nvPr/>
        </p:nvSpPr>
        <p:spPr>
          <a:xfrm>
            <a:off x="4069080" y="3602736"/>
            <a:ext cx="1307592" cy="384048"/>
          </a:xfrm>
          <a:prstGeom prst="rect">
            <a:avLst/>
          </a:prstGeom>
          <a:noFill/>
          <a:ln/>
        </p:spPr>
        <p:txBody>
          <a:bodyPr wrap="square" lIns="0" tIns="0" rIns="0" bIns="0" rtlCol="0" anchor="ctr">
            <a:normAutofit/>
          </a:bodyPr>
          <a:lstStyle/>
          <a:p>
            <a:pPr algn="l" indent="0" marL="0">
              <a:lnSpc>
                <a:spcPct val="100000"/>
              </a:lnSpc>
              <a:buNone/>
            </a:pPr>
            <a:r>
              <a:rPr lang="en-US" sz="870" dirty="0">
                <a:solidFill>
                  <a:srgbClr val="66756D"/>
                </a:solidFill>
                <a:latin typeface="Inter" pitchFamily="34" charset="0"/>
                <a:ea typeface="Inter" pitchFamily="34" charset="-122"/>
                <a:cs typeface="Inter" pitchFamily="34" charset="-120"/>
              </a:rPr>
              <a:t>Seberapa efisien pakan berubah menjadi output produksi.</a:t>
            </a:r>
            <a:endParaRPr lang="en-US" sz="870" dirty="0"/>
          </a:p>
        </p:txBody>
      </p:sp>
      <p:sp>
        <p:nvSpPr>
          <p:cNvPr id="16" name="Shape 14"/>
          <p:cNvSpPr/>
          <p:nvPr/>
        </p:nvSpPr>
        <p:spPr>
          <a:xfrm>
            <a:off x="566928" y="4315968"/>
            <a:ext cx="2331720" cy="621792"/>
          </a:xfrm>
          <a:prstGeom prst="roundRect">
            <a:avLst>
              <a:gd name="adj" fmla="val 19118"/>
            </a:avLst>
          </a:prstGeom>
          <a:solidFill>
            <a:srgbClr val="FFFFFF"/>
          </a:solidFill>
          <a:ln w="10160">
            <a:solidFill>
              <a:srgbClr val="D9E3DA"/>
            </a:solidFill>
            <a:prstDash val="solid"/>
          </a:ln>
        </p:spPr>
      </p:sp>
      <p:sp>
        <p:nvSpPr>
          <p:cNvPr id="17" name="Shape 15"/>
          <p:cNvSpPr/>
          <p:nvPr/>
        </p:nvSpPr>
        <p:spPr>
          <a:xfrm>
            <a:off x="566928" y="4315968"/>
            <a:ext cx="64008" cy="621792"/>
          </a:xfrm>
          <a:prstGeom prst="rect">
            <a:avLst/>
          </a:prstGeom>
          <a:solidFill>
            <a:srgbClr val="3F6D8A"/>
          </a:solidFill>
          <a:ln w="12700">
            <a:solidFill>
              <a:srgbClr val="3F6D8A"/>
            </a:solidFill>
            <a:prstDash val="solid"/>
          </a:ln>
        </p:spPr>
      </p:sp>
      <p:sp>
        <p:nvSpPr>
          <p:cNvPr id="18" name="Text 16"/>
          <p:cNvSpPr txBox="1"/>
          <p:nvPr/>
        </p:nvSpPr>
        <p:spPr>
          <a:xfrm>
            <a:off x="768096" y="4398264"/>
            <a:ext cx="786384" cy="22860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3F6D8A"/>
                </a:solidFill>
                <a:latin typeface="Inter" pitchFamily="34" charset="0"/>
                <a:ea typeface="Inter" pitchFamily="34" charset="-122"/>
                <a:cs typeface="Inter" pitchFamily="34" charset="-120"/>
              </a:rPr>
              <a:t>Produksi</a:t>
            </a:r>
            <a:endParaRPr lang="en-US" sz="1200" dirty="0"/>
          </a:p>
        </p:txBody>
      </p:sp>
      <p:sp>
        <p:nvSpPr>
          <p:cNvPr id="19" name="Text 17"/>
          <p:cNvSpPr txBox="1"/>
          <p:nvPr/>
        </p:nvSpPr>
        <p:spPr>
          <a:xfrm>
            <a:off x="1463040" y="4389120"/>
            <a:ext cx="1307592" cy="384048"/>
          </a:xfrm>
          <a:prstGeom prst="rect">
            <a:avLst/>
          </a:prstGeom>
          <a:noFill/>
          <a:ln/>
        </p:spPr>
        <p:txBody>
          <a:bodyPr wrap="square" lIns="0" tIns="0" rIns="0" bIns="0" rtlCol="0" anchor="ctr">
            <a:normAutofit/>
          </a:bodyPr>
          <a:lstStyle/>
          <a:p>
            <a:pPr algn="l" indent="0" marL="0">
              <a:lnSpc>
                <a:spcPct val="100000"/>
              </a:lnSpc>
              <a:buNone/>
            </a:pPr>
            <a:r>
              <a:rPr lang="en-US" sz="870" dirty="0">
                <a:solidFill>
                  <a:srgbClr val="66756D"/>
                </a:solidFill>
                <a:latin typeface="Inter" pitchFamily="34" charset="0"/>
                <a:ea typeface="Inter" pitchFamily="34" charset="-122"/>
                <a:cs typeface="Inter" pitchFamily="34" charset="-120"/>
              </a:rPr>
              <a:t>Jumlah hasil yang tercatat pada periode yang dibaca.</a:t>
            </a:r>
            <a:endParaRPr lang="en-US" sz="870" dirty="0"/>
          </a:p>
        </p:txBody>
      </p:sp>
      <p:sp>
        <p:nvSpPr>
          <p:cNvPr id="20" name="Shape 18"/>
          <p:cNvSpPr/>
          <p:nvPr/>
        </p:nvSpPr>
        <p:spPr>
          <a:xfrm>
            <a:off x="3172968" y="4315968"/>
            <a:ext cx="2331720" cy="621792"/>
          </a:xfrm>
          <a:prstGeom prst="roundRect">
            <a:avLst>
              <a:gd name="adj" fmla="val 19118"/>
            </a:avLst>
          </a:prstGeom>
          <a:solidFill>
            <a:srgbClr val="FFFFFF"/>
          </a:solidFill>
          <a:ln w="10160">
            <a:solidFill>
              <a:srgbClr val="D9E3DA"/>
            </a:solidFill>
            <a:prstDash val="solid"/>
          </a:ln>
        </p:spPr>
      </p:sp>
      <p:sp>
        <p:nvSpPr>
          <p:cNvPr id="21" name="Shape 19"/>
          <p:cNvSpPr/>
          <p:nvPr/>
        </p:nvSpPr>
        <p:spPr>
          <a:xfrm>
            <a:off x="3172968" y="4315968"/>
            <a:ext cx="64008" cy="621792"/>
          </a:xfrm>
          <a:prstGeom prst="rect">
            <a:avLst/>
          </a:prstGeom>
          <a:solidFill>
            <a:srgbClr val="4E9A57"/>
          </a:solidFill>
          <a:ln w="12700">
            <a:solidFill>
              <a:srgbClr val="4E9A57"/>
            </a:solidFill>
            <a:prstDash val="solid"/>
          </a:ln>
        </p:spPr>
      </p:sp>
      <p:sp>
        <p:nvSpPr>
          <p:cNvPr id="22" name="Text 20"/>
          <p:cNvSpPr txBox="1"/>
          <p:nvPr/>
        </p:nvSpPr>
        <p:spPr>
          <a:xfrm>
            <a:off x="3374136" y="4398264"/>
            <a:ext cx="786384" cy="22860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4E9A57"/>
                </a:solidFill>
                <a:latin typeface="Inter" pitchFamily="34" charset="0"/>
                <a:ea typeface="Inter" pitchFamily="34" charset="-122"/>
                <a:cs typeface="Inter" pitchFamily="34" charset="-120"/>
              </a:rPr>
              <a:t>Populasi</a:t>
            </a:r>
            <a:endParaRPr lang="en-US" sz="1200" dirty="0"/>
          </a:p>
        </p:txBody>
      </p:sp>
      <p:sp>
        <p:nvSpPr>
          <p:cNvPr id="23" name="Text 21"/>
          <p:cNvSpPr txBox="1"/>
          <p:nvPr/>
        </p:nvSpPr>
        <p:spPr>
          <a:xfrm>
            <a:off x="4069080" y="4389120"/>
            <a:ext cx="1307592" cy="384048"/>
          </a:xfrm>
          <a:prstGeom prst="rect">
            <a:avLst/>
          </a:prstGeom>
          <a:noFill/>
          <a:ln/>
        </p:spPr>
        <p:txBody>
          <a:bodyPr wrap="square" lIns="0" tIns="0" rIns="0" bIns="0" rtlCol="0" anchor="ctr">
            <a:normAutofit/>
          </a:bodyPr>
          <a:lstStyle/>
          <a:p>
            <a:pPr algn="l" indent="0" marL="0">
              <a:lnSpc>
                <a:spcPct val="100000"/>
              </a:lnSpc>
              <a:buNone/>
            </a:pPr>
            <a:r>
              <a:rPr lang="en-US" sz="870" dirty="0">
                <a:solidFill>
                  <a:srgbClr val="66756D"/>
                </a:solidFill>
                <a:latin typeface="Inter" pitchFamily="34" charset="0"/>
                <a:ea typeface="Inter" pitchFamily="34" charset="-122"/>
                <a:cs typeface="Inter" pitchFamily="34" charset="-120"/>
              </a:rPr>
              <a:t>Konteks jumlah ayam aktif di dalam siklus.</a:t>
            </a:r>
            <a:endParaRPr lang="en-US" sz="870" dirty="0"/>
          </a:p>
        </p:txBody>
      </p:sp>
      <p:sp>
        <p:nvSpPr>
          <p:cNvPr id="24" name="Shape 22"/>
          <p:cNvSpPr/>
          <p:nvPr/>
        </p:nvSpPr>
        <p:spPr>
          <a:xfrm>
            <a:off x="566928" y="5102352"/>
            <a:ext cx="4983480" cy="621792"/>
          </a:xfrm>
          <a:prstGeom prst="roundRect">
            <a:avLst>
              <a:gd name="adj" fmla="val 19118"/>
            </a:avLst>
          </a:prstGeom>
          <a:solidFill>
            <a:srgbClr val="FFFFFF"/>
          </a:solidFill>
          <a:ln w="10160">
            <a:solidFill>
              <a:srgbClr val="D9E3DA"/>
            </a:solidFill>
            <a:prstDash val="solid"/>
          </a:ln>
        </p:spPr>
      </p:sp>
      <p:sp>
        <p:nvSpPr>
          <p:cNvPr id="25" name="Shape 23"/>
          <p:cNvSpPr/>
          <p:nvPr/>
        </p:nvSpPr>
        <p:spPr>
          <a:xfrm>
            <a:off x="566928" y="5102352"/>
            <a:ext cx="64008" cy="621792"/>
          </a:xfrm>
          <a:prstGeom prst="rect">
            <a:avLst/>
          </a:prstGeom>
          <a:solidFill>
            <a:srgbClr val="C94936"/>
          </a:solidFill>
          <a:ln w="12700">
            <a:solidFill>
              <a:srgbClr val="C94936"/>
            </a:solidFill>
            <a:prstDash val="solid"/>
          </a:ln>
        </p:spPr>
      </p:sp>
      <p:sp>
        <p:nvSpPr>
          <p:cNvPr id="26" name="Text 24"/>
          <p:cNvSpPr txBox="1"/>
          <p:nvPr/>
        </p:nvSpPr>
        <p:spPr>
          <a:xfrm>
            <a:off x="768096" y="5184648"/>
            <a:ext cx="786384" cy="228600"/>
          </a:xfrm>
          <a:prstGeom prst="rect">
            <a:avLst/>
          </a:prstGeom>
          <a:noFill/>
          <a:ln/>
        </p:spPr>
        <p:txBody>
          <a:bodyPr wrap="square" lIns="0" tIns="0" rIns="0" bIns="0" rtlCol="0" anchor="ctr">
            <a:normAutofit/>
          </a:bodyPr>
          <a:lstStyle/>
          <a:p>
            <a:pPr algn="l" indent="0" marL="0">
              <a:lnSpc>
                <a:spcPct val="100000"/>
              </a:lnSpc>
              <a:buNone/>
            </a:pPr>
            <a:r>
              <a:rPr lang="en-US" sz="1200" b="1" dirty="0">
                <a:solidFill>
                  <a:srgbClr val="C94936"/>
                </a:solidFill>
                <a:latin typeface="Inter" pitchFamily="34" charset="0"/>
                <a:ea typeface="Inter" pitchFamily="34" charset="-122"/>
                <a:cs typeface="Inter" pitchFamily="34" charset="-120"/>
              </a:rPr>
              <a:t>Alert</a:t>
            </a:r>
            <a:endParaRPr lang="en-US" sz="1200" dirty="0"/>
          </a:p>
        </p:txBody>
      </p:sp>
      <p:sp>
        <p:nvSpPr>
          <p:cNvPr id="27" name="Text 25"/>
          <p:cNvSpPr txBox="1"/>
          <p:nvPr/>
        </p:nvSpPr>
        <p:spPr>
          <a:xfrm>
            <a:off x="1463040" y="5175504"/>
            <a:ext cx="3959352" cy="384048"/>
          </a:xfrm>
          <a:prstGeom prst="rect">
            <a:avLst/>
          </a:prstGeom>
          <a:noFill/>
          <a:ln/>
        </p:spPr>
        <p:txBody>
          <a:bodyPr wrap="square" lIns="0" tIns="0" rIns="0" bIns="0" rtlCol="0" anchor="ctr">
            <a:normAutofit/>
          </a:bodyPr>
          <a:lstStyle/>
          <a:p>
            <a:pPr algn="l" indent="0" marL="0">
              <a:lnSpc>
                <a:spcPct val="100000"/>
              </a:lnSpc>
              <a:buNone/>
            </a:pPr>
            <a:r>
              <a:rPr lang="en-US" sz="870" dirty="0">
                <a:solidFill>
                  <a:srgbClr val="66756D"/>
                </a:solidFill>
                <a:latin typeface="Inter" pitchFamily="34" charset="0"/>
                <a:ea typeface="Inter" pitchFamily="34" charset="-122"/>
                <a:cs typeface="Inter" pitchFamily="34" charset="-120"/>
              </a:rPr>
              <a:t>Sinyal agar bagian tertentu ditinjau lebih cepat.</a:t>
            </a:r>
            <a:endParaRPr lang="en-US" sz="870" dirty="0"/>
          </a:p>
        </p:txBody>
      </p:sp>
      <p:sp>
        <p:nvSpPr>
          <p:cNvPr id="28" name="Shape 26"/>
          <p:cNvSpPr/>
          <p:nvPr/>
        </p:nvSpPr>
        <p:spPr>
          <a:xfrm>
            <a:off x="6263640" y="877824"/>
            <a:ext cx="5330952" cy="5367528"/>
          </a:xfrm>
          <a:prstGeom prst="roundRect">
            <a:avLst>
              <a:gd name="adj" fmla="val 3774"/>
            </a:avLst>
          </a:prstGeom>
          <a:solidFill>
            <a:srgbClr val="F7F9F5"/>
          </a:solidFill>
          <a:ln w="10160">
            <a:solidFill>
              <a:srgbClr val="CFDCCF"/>
            </a:solidFill>
            <a:prstDash val="solid"/>
          </a:ln>
        </p:spPr>
      </p:sp>
      <p:sp>
        <p:nvSpPr>
          <p:cNvPr id="29" name="Text 27"/>
          <p:cNvSpPr txBox="1"/>
          <p:nvPr/>
        </p:nvSpPr>
        <p:spPr>
          <a:xfrm>
            <a:off x="6565392" y="1097280"/>
            <a:ext cx="4206240" cy="237744"/>
          </a:xfrm>
          <a:prstGeom prst="rect">
            <a:avLst/>
          </a:prstGeom>
          <a:noFill/>
          <a:ln/>
        </p:spPr>
        <p:txBody>
          <a:bodyPr wrap="square" lIns="0" tIns="0" rIns="0" bIns="0" rtlCol="0" anchor="ctr">
            <a:normAutofit/>
          </a:bodyPr>
          <a:lstStyle/>
          <a:p>
            <a:pPr algn="l" indent="0" marL="0">
              <a:lnSpc>
                <a:spcPct val="100000"/>
              </a:lnSpc>
              <a:buNone/>
            </a:pPr>
            <a:r>
              <a:rPr lang="en-US" sz="800" b="1" spc="110" kern="0" dirty="0">
                <a:solidFill>
                  <a:srgbClr val="2F813C"/>
                </a:solidFill>
                <a:latin typeface="Inter" pitchFamily="34" charset="0"/>
                <a:ea typeface="Inter" pitchFamily="34" charset="-122"/>
                <a:cs typeface="Inter" pitchFamily="34" charset="-120"/>
              </a:rPr>
              <a:t>SCREENSHOT DASHBOARD / MONITORING ASLI</a:t>
            </a:r>
            <a:endParaRPr lang="en-US" sz="800" dirty="0"/>
          </a:p>
        </p:txBody>
      </p:sp>
      <p:sp>
        <p:nvSpPr>
          <p:cNvPr id="30" name="Shape 28"/>
          <p:cNvSpPr/>
          <p:nvPr/>
        </p:nvSpPr>
        <p:spPr>
          <a:xfrm>
            <a:off x="6547104" y="1499616"/>
            <a:ext cx="4727448" cy="3456432"/>
          </a:xfrm>
          <a:prstGeom prst="roundRect">
            <a:avLst>
              <a:gd name="adj" fmla="val 4233"/>
            </a:avLst>
          </a:prstGeom>
          <a:solidFill>
            <a:srgbClr val="EFF7EE"/>
          </a:solidFill>
          <a:ln w="15240">
            <a:solidFill>
              <a:srgbClr val="BED0BD"/>
            </a:solidFill>
            <a:prstDash val="solid"/>
          </a:ln>
        </p:spPr>
      </p:sp>
      <p:sp>
        <p:nvSpPr>
          <p:cNvPr id="31" name="Shape 29"/>
          <p:cNvSpPr/>
          <p:nvPr/>
        </p:nvSpPr>
        <p:spPr>
          <a:xfrm>
            <a:off x="6839712" y="3227832"/>
            <a:ext cx="4142232" cy="0"/>
          </a:xfrm>
          <a:prstGeom prst="line">
            <a:avLst/>
          </a:prstGeom>
          <a:noFill/>
          <a:ln w="10160">
            <a:solidFill>
              <a:srgbClr val="B7C9B8"/>
            </a:solidFill>
            <a:prstDash val="dash"/>
            <a:headEnd type="none"/>
            <a:tailEnd type="none"/>
          </a:ln>
        </p:spPr>
      </p:sp>
      <p:sp>
        <p:nvSpPr>
          <p:cNvPr id="32" name="Shape 30"/>
          <p:cNvSpPr/>
          <p:nvPr/>
        </p:nvSpPr>
        <p:spPr>
          <a:xfrm>
            <a:off x="8910828" y="1773936"/>
            <a:ext cx="0" cy="2907792"/>
          </a:xfrm>
          <a:prstGeom prst="line">
            <a:avLst/>
          </a:prstGeom>
          <a:noFill/>
          <a:ln w="10160">
            <a:solidFill>
              <a:srgbClr val="B7C9B8"/>
            </a:solidFill>
            <a:prstDash val="dash"/>
            <a:headEnd type="none"/>
            <a:tailEnd type="none"/>
          </a:ln>
        </p:spPr>
      </p:sp>
      <p:sp>
        <p:nvSpPr>
          <p:cNvPr id="33" name="Shape 31"/>
          <p:cNvSpPr/>
          <p:nvPr/>
        </p:nvSpPr>
        <p:spPr>
          <a:xfrm>
            <a:off x="6784848" y="1728216"/>
            <a:ext cx="1600200" cy="301752"/>
          </a:xfrm>
          <a:prstGeom prst="roundRect">
            <a:avLst>
              <a:gd name="adj" fmla="val 48485"/>
            </a:avLst>
          </a:prstGeom>
          <a:solidFill>
            <a:srgbClr val="FFFFFF"/>
          </a:solidFill>
          <a:ln w="10160">
            <a:solidFill>
              <a:srgbClr val="FFFFFF"/>
            </a:solidFill>
            <a:prstDash val="solid"/>
          </a:ln>
        </p:spPr>
      </p:sp>
      <p:sp>
        <p:nvSpPr>
          <p:cNvPr id="34" name="Text 32"/>
          <p:cNvSpPr txBox="1"/>
          <p:nvPr/>
        </p:nvSpPr>
        <p:spPr>
          <a:xfrm>
            <a:off x="6903720" y="1755648"/>
            <a:ext cx="1353312" cy="237744"/>
          </a:xfrm>
          <a:prstGeom prst="rect">
            <a:avLst/>
          </a:prstGeom>
          <a:noFill/>
          <a:ln/>
        </p:spPr>
        <p:txBody>
          <a:bodyPr wrap="square" lIns="0" tIns="0" rIns="0" bIns="0" rtlCol="0" anchor="ctr">
            <a:normAutofit/>
          </a:bodyPr>
          <a:lstStyle/>
          <a:p>
            <a:pPr algn="l" indent="0" marL="0">
              <a:lnSpc>
                <a:spcPct val="100000"/>
              </a:lnSpc>
              <a:buNone/>
            </a:pPr>
            <a:r>
              <a:rPr lang="en-US" sz="800" b="1" spc="120" kern="0" dirty="0">
                <a:solidFill>
                  <a:srgbClr val="2F813C"/>
                </a:solidFill>
                <a:latin typeface="Inter" pitchFamily="34" charset="0"/>
                <a:ea typeface="Inter" pitchFamily="34" charset="-122"/>
                <a:cs typeface="Inter" pitchFamily="34" charset="-120"/>
              </a:rPr>
              <a:t>DASHBOARD EVIDENCE</a:t>
            </a:r>
            <a:endParaRPr lang="en-US" sz="800" dirty="0"/>
          </a:p>
        </p:txBody>
      </p:sp>
      <p:sp>
        <p:nvSpPr>
          <p:cNvPr id="35" name="Text 33"/>
          <p:cNvSpPr txBox="1"/>
          <p:nvPr/>
        </p:nvSpPr>
        <p:spPr>
          <a:xfrm>
            <a:off x="7004304" y="2971800"/>
            <a:ext cx="3813048" cy="38404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53326"/>
                </a:solidFill>
                <a:latin typeface="Inter" pitchFamily="34" charset="0"/>
                <a:ea typeface="Inter" pitchFamily="34" charset="-122"/>
                <a:cs typeface="Inter" pitchFamily="34" charset="-120"/>
              </a:rPr>
              <a:t>Drop screenshot final dari INDEX.md</a:t>
            </a:r>
            <a:endParaRPr lang="en-US" sz="1600" dirty="0"/>
          </a:p>
        </p:txBody>
      </p:sp>
      <p:sp>
        <p:nvSpPr>
          <p:cNvPr id="36" name="Text 34"/>
          <p:cNvSpPr txBox="1"/>
          <p:nvPr/>
        </p:nvSpPr>
        <p:spPr>
          <a:xfrm>
            <a:off x="7187184" y="3392424"/>
            <a:ext cx="3447288" cy="530352"/>
          </a:xfrm>
          <a:prstGeom prst="rect">
            <a:avLst/>
          </a:prstGeom>
          <a:noFill/>
          <a:ln/>
        </p:spPr>
        <p:txBody>
          <a:bodyPr wrap="square" lIns="0" tIns="0" rIns="0" bIns="0" rtlCol="0" anchor="ctr">
            <a:normAutofit/>
          </a:bodyPr>
          <a:lstStyle/>
          <a:p>
            <a:pPr algn="ctr" indent="0" marL="0">
              <a:lnSpc>
                <a:spcPct val="100000"/>
              </a:lnSpc>
              <a:buNone/>
            </a:pPr>
            <a:r>
              <a:rPr lang="en-US" sz="900" dirty="0">
                <a:solidFill>
                  <a:srgbClr val="66756D"/>
                </a:solidFill>
                <a:latin typeface="Inter" pitchFamily="34" charset="0"/>
                <a:ea typeface="Inter" pitchFamily="34" charset="-122"/>
                <a:cs typeface="Inter" pitchFamily="34" charset="-120"/>
              </a:rPr>
              <a:t>Crop header/nav web agar perhatian tetap pada data, KPI, grafik, dan alert.</a:t>
            </a:r>
            <a:endParaRPr lang="en-US" sz="900" dirty="0"/>
          </a:p>
        </p:txBody>
      </p:sp>
      <p:sp>
        <p:nvSpPr>
          <p:cNvPr id="37" name="Shape 35"/>
          <p:cNvSpPr/>
          <p:nvPr/>
        </p:nvSpPr>
        <p:spPr>
          <a:xfrm>
            <a:off x="6565392" y="5230368"/>
            <a:ext cx="786384" cy="329184"/>
          </a:xfrm>
          <a:prstGeom prst="roundRect">
            <a:avLst>
              <a:gd name="adj" fmla="val 44444"/>
            </a:avLst>
          </a:prstGeom>
          <a:solidFill>
            <a:srgbClr val="FFFFFF"/>
          </a:solidFill>
          <a:ln w="9525">
            <a:solidFill>
              <a:srgbClr val="D7E1D6"/>
            </a:solidFill>
            <a:prstDash val="solid"/>
          </a:ln>
        </p:spPr>
      </p:sp>
      <p:sp>
        <p:nvSpPr>
          <p:cNvPr id="38" name="Shape 36"/>
          <p:cNvSpPr/>
          <p:nvPr/>
        </p:nvSpPr>
        <p:spPr>
          <a:xfrm>
            <a:off x="6693408" y="5335524"/>
            <a:ext cx="100584" cy="100584"/>
          </a:xfrm>
          <a:prstGeom prst="ellipse">
            <a:avLst/>
          </a:prstGeom>
          <a:solidFill>
            <a:srgbClr val="2F813C"/>
          </a:solidFill>
          <a:ln w="12700">
            <a:solidFill>
              <a:srgbClr val="2F813C"/>
            </a:solidFill>
            <a:prstDash val="solid"/>
          </a:ln>
        </p:spPr>
      </p:sp>
      <p:sp>
        <p:nvSpPr>
          <p:cNvPr id="39" name="Text 37"/>
          <p:cNvSpPr txBox="1"/>
          <p:nvPr/>
        </p:nvSpPr>
        <p:spPr>
          <a:xfrm>
            <a:off x="6876288" y="5257800"/>
            <a:ext cx="384048" cy="265176"/>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53326"/>
                </a:solidFill>
                <a:latin typeface="Inter" pitchFamily="34" charset="0"/>
                <a:ea typeface="Inter" pitchFamily="34" charset="-122"/>
                <a:cs typeface="Inter" pitchFamily="34" charset="-120"/>
              </a:rPr>
              <a:t>HDP</a:t>
            </a:r>
            <a:endParaRPr lang="en-US" sz="1000" dirty="0"/>
          </a:p>
        </p:txBody>
      </p:sp>
      <p:sp>
        <p:nvSpPr>
          <p:cNvPr id="40" name="Shape 38"/>
          <p:cNvSpPr/>
          <p:nvPr/>
        </p:nvSpPr>
        <p:spPr>
          <a:xfrm>
            <a:off x="7452360" y="5230368"/>
            <a:ext cx="768096" cy="329184"/>
          </a:xfrm>
          <a:prstGeom prst="roundRect">
            <a:avLst>
              <a:gd name="adj" fmla="val 44444"/>
            </a:avLst>
          </a:prstGeom>
          <a:solidFill>
            <a:srgbClr val="FFFFFF"/>
          </a:solidFill>
          <a:ln w="9525">
            <a:solidFill>
              <a:srgbClr val="D7E1D6"/>
            </a:solidFill>
            <a:prstDash val="solid"/>
          </a:ln>
        </p:spPr>
      </p:sp>
      <p:sp>
        <p:nvSpPr>
          <p:cNvPr id="41" name="Shape 39"/>
          <p:cNvSpPr/>
          <p:nvPr/>
        </p:nvSpPr>
        <p:spPr>
          <a:xfrm>
            <a:off x="7580376" y="5335524"/>
            <a:ext cx="100584" cy="100584"/>
          </a:xfrm>
          <a:prstGeom prst="ellipse">
            <a:avLst/>
          </a:prstGeom>
          <a:solidFill>
            <a:srgbClr val="D84A1B"/>
          </a:solidFill>
          <a:ln w="12700">
            <a:solidFill>
              <a:srgbClr val="D84A1B"/>
            </a:solidFill>
            <a:prstDash val="solid"/>
          </a:ln>
        </p:spPr>
      </p:sp>
      <p:sp>
        <p:nvSpPr>
          <p:cNvPr id="42" name="Text 40"/>
          <p:cNvSpPr txBox="1"/>
          <p:nvPr/>
        </p:nvSpPr>
        <p:spPr>
          <a:xfrm>
            <a:off x="7763256" y="5257800"/>
            <a:ext cx="365760" cy="265176"/>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53326"/>
                </a:solidFill>
                <a:latin typeface="Inter" pitchFamily="34" charset="0"/>
                <a:ea typeface="Inter" pitchFamily="34" charset="-122"/>
                <a:cs typeface="Inter" pitchFamily="34" charset="-120"/>
              </a:rPr>
              <a:t>FCR</a:t>
            </a:r>
            <a:endParaRPr lang="en-US" sz="1000" dirty="0"/>
          </a:p>
        </p:txBody>
      </p:sp>
      <p:sp>
        <p:nvSpPr>
          <p:cNvPr id="43" name="Shape 41"/>
          <p:cNvSpPr/>
          <p:nvPr/>
        </p:nvSpPr>
        <p:spPr>
          <a:xfrm>
            <a:off x="8321040" y="5230368"/>
            <a:ext cx="1042416" cy="329184"/>
          </a:xfrm>
          <a:prstGeom prst="roundRect">
            <a:avLst>
              <a:gd name="adj" fmla="val 44444"/>
            </a:avLst>
          </a:prstGeom>
          <a:solidFill>
            <a:srgbClr val="FFFFFF"/>
          </a:solidFill>
          <a:ln w="9525">
            <a:solidFill>
              <a:srgbClr val="D7E1D6"/>
            </a:solidFill>
            <a:prstDash val="solid"/>
          </a:ln>
        </p:spPr>
      </p:sp>
      <p:sp>
        <p:nvSpPr>
          <p:cNvPr id="44" name="Shape 42"/>
          <p:cNvSpPr/>
          <p:nvPr/>
        </p:nvSpPr>
        <p:spPr>
          <a:xfrm>
            <a:off x="8449056" y="5335524"/>
            <a:ext cx="100584" cy="100584"/>
          </a:xfrm>
          <a:prstGeom prst="ellipse">
            <a:avLst/>
          </a:prstGeom>
          <a:solidFill>
            <a:srgbClr val="3F6D8A"/>
          </a:solidFill>
          <a:ln w="12700">
            <a:solidFill>
              <a:srgbClr val="3F6D8A"/>
            </a:solidFill>
            <a:prstDash val="solid"/>
          </a:ln>
        </p:spPr>
      </p:sp>
      <p:sp>
        <p:nvSpPr>
          <p:cNvPr id="45" name="Text 43"/>
          <p:cNvSpPr txBox="1"/>
          <p:nvPr/>
        </p:nvSpPr>
        <p:spPr>
          <a:xfrm>
            <a:off x="8631936" y="5257800"/>
            <a:ext cx="640080" cy="265176"/>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53326"/>
                </a:solidFill>
                <a:latin typeface="Inter" pitchFamily="34" charset="0"/>
                <a:ea typeface="Inter" pitchFamily="34" charset="-122"/>
                <a:cs typeface="Inter" pitchFamily="34" charset="-120"/>
              </a:rPr>
              <a:t>Produksi</a:t>
            </a:r>
            <a:endParaRPr lang="en-US" sz="1000" dirty="0"/>
          </a:p>
        </p:txBody>
      </p:sp>
      <p:sp>
        <p:nvSpPr>
          <p:cNvPr id="46" name="Shape 44"/>
          <p:cNvSpPr/>
          <p:nvPr/>
        </p:nvSpPr>
        <p:spPr>
          <a:xfrm>
            <a:off x="9464040" y="5230368"/>
            <a:ext cx="1005840" cy="329184"/>
          </a:xfrm>
          <a:prstGeom prst="roundRect">
            <a:avLst>
              <a:gd name="adj" fmla="val 44444"/>
            </a:avLst>
          </a:prstGeom>
          <a:solidFill>
            <a:srgbClr val="FFFFFF"/>
          </a:solidFill>
          <a:ln w="9525">
            <a:solidFill>
              <a:srgbClr val="D7E1D6"/>
            </a:solidFill>
            <a:prstDash val="solid"/>
          </a:ln>
        </p:spPr>
      </p:sp>
      <p:sp>
        <p:nvSpPr>
          <p:cNvPr id="47" name="Shape 45"/>
          <p:cNvSpPr/>
          <p:nvPr/>
        </p:nvSpPr>
        <p:spPr>
          <a:xfrm>
            <a:off x="9592056" y="5335524"/>
            <a:ext cx="100584" cy="100584"/>
          </a:xfrm>
          <a:prstGeom prst="ellipse">
            <a:avLst/>
          </a:prstGeom>
          <a:solidFill>
            <a:srgbClr val="4E9A57"/>
          </a:solidFill>
          <a:ln w="12700">
            <a:solidFill>
              <a:srgbClr val="4E9A57"/>
            </a:solidFill>
            <a:prstDash val="solid"/>
          </a:ln>
        </p:spPr>
      </p:sp>
      <p:sp>
        <p:nvSpPr>
          <p:cNvPr id="48" name="Text 46"/>
          <p:cNvSpPr txBox="1"/>
          <p:nvPr/>
        </p:nvSpPr>
        <p:spPr>
          <a:xfrm>
            <a:off x="9774936" y="5257800"/>
            <a:ext cx="603504" cy="265176"/>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53326"/>
                </a:solidFill>
                <a:latin typeface="Inter" pitchFamily="34" charset="0"/>
                <a:ea typeface="Inter" pitchFamily="34" charset="-122"/>
                <a:cs typeface="Inter" pitchFamily="34" charset="-120"/>
              </a:rPr>
              <a:t>Populasi</a:t>
            </a:r>
            <a:endParaRPr lang="en-US" sz="1000" dirty="0"/>
          </a:p>
        </p:txBody>
      </p:sp>
      <p:sp>
        <p:nvSpPr>
          <p:cNvPr id="49" name="Shape 47"/>
          <p:cNvSpPr/>
          <p:nvPr/>
        </p:nvSpPr>
        <p:spPr>
          <a:xfrm>
            <a:off x="10579608" y="5230368"/>
            <a:ext cx="658368" cy="329184"/>
          </a:xfrm>
          <a:prstGeom prst="roundRect">
            <a:avLst>
              <a:gd name="adj" fmla="val 44444"/>
            </a:avLst>
          </a:prstGeom>
          <a:solidFill>
            <a:srgbClr val="FFFFFF"/>
          </a:solidFill>
          <a:ln w="9525">
            <a:solidFill>
              <a:srgbClr val="D7E1D6"/>
            </a:solidFill>
            <a:prstDash val="solid"/>
          </a:ln>
        </p:spPr>
      </p:sp>
      <p:sp>
        <p:nvSpPr>
          <p:cNvPr id="50" name="Shape 48"/>
          <p:cNvSpPr/>
          <p:nvPr/>
        </p:nvSpPr>
        <p:spPr>
          <a:xfrm>
            <a:off x="10707624" y="5335524"/>
            <a:ext cx="100584" cy="100584"/>
          </a:xfrm>
          <a:prstGeom prst="ellipse">
            <a:avLst/>
          </a:prstGeom>
          <a:solidFill>
            <a:srgbClr val="C94936"/>
          </a:solidFill>
          <a:ln w="12700">
            <a:solidFill>
              <a:srgbClr val="C94936"/>
            </a:solidFill>
            <a:prstDash val="solid"/>
          </a:ln>
        </p:spPr>
      </p:sp>
      <p:sp>
        <p:nvSpPr>
          <p:cNvPr id="51" name="Text 49"/>
          <p:cNvSpPr txBox="1"/>
          <p:nvPr/>
        </p:nvSpPr>
        <p:spPr>
          <a:xfrm>
            <a:off x="10890504" y="5257800"/>
            <a:ext cx="256032" cy="265176"/>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153326"/>
                </a:solidFill>
                <a:latin typeface="Inter" pitchFamily="34" charset="0"/>
                <a:ea typeface="Inter" pitchFamily="34" charset="-122"/>
                <a:cs typeface="Inter" pitchFamily="34" charset="-120"/>
              </a:rPr>
              <a:t>Alert</a:t>
            </a:r>
            <a:endParaRPr lang="en-US" sz="1000" dirty="0"/>
          </a:p>
        </p:txBody>
      </p:sp>
      <p:sp>
        <p:nvSpPr>
          <p:cNvPr id="52" name="Text 50"/>
          <p:cNvSpPr txBox="1"/>
          <p:nvPr/>
        </p:nvSpPr>
        <p:spPr>
          <a:xfrm>
            <a:off x="6565392" y="5715000"/>
            <a:ext cx="4480560" cy="347472"/>
          </a:xfrm>
          <a:prstGeom prst="rect">
            <a:avLst/>
          </a:prstGeom>
          <a:noFill/>
          <a:ln/>
        </p:spPr>
        <p:txBody>
          <a:bodyPr wrap="square" lIns="0" tIns="0" rIns="0" bIns="0" rtlCol="0" anchor="ctr">
            <a:normAutofit/>
          </a:bodyPr>
          <a:lstStyle/>
          <a:p>
            <a:pPr algn="l" indent="0" marL="0">
              <a:lnSpc>
                <a:spcPct val="100000"/>
              </a:lnSpc>
              <a:buNone/>
            </a:pPr>
            <a:r>
              <a:rPr lang="en-US" sz="900" dirty="0">
                <a:solidFill>
                  <a:srgbClr val="66756D"/>
                </a:solidFill>
                <a:latin typeface="Inter" pitchFamily="34" charset="0"/>
                <a:ea typeface="Inter" pitchFamily="34" charset="-122"/>
                <a:cs typeface="Inter" pitchFamily="34" charset="-120"/>
              </a:rPr>
              <a:t>Copy pelanggan menjelaskan arti indikator — bukan menjanjikan angka tertentu.</a:t>
            </a:r>
            <a:endParaRPr lang="en-US" sz="900" dirty="0"/>
          </a:p>
        </p:txBody>
      </p:sp>
      <p:sp>
        <p:nvSpPr>
          <p:cNvPr id="25" name="Slide Number Placeholder 0"/>
          <p:cNvSpPr>
            <a:spLocks noGrp="1"/>
          </p:cNvSpPr>
          <p:nvPr>
            <p:ph type="sldNum" sz="quarter" idx="4294967295"/>
          </p:nvPr>
        </p:nvSpPr>
        <p:spPr>
          <a:xfrm>
            <a:off x="11384280" y="6446520"/>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7877F"/>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685800" cy="256032"/>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153326"/>
                </a:solidFill>
                <a:latin typeface="Inter" pitchFamily="34" charset="0"/>
                <a:ea typeface="Inter" pitchFamily="34" charset="-122"/>
                <a:cs typeface="Inter" pitchFamily="34" charset="-120"/>
              </a:rPr>
              <a:t>AAPM</a:t>
            </a:r>
            <a:endParaRPr lang="en-US" sz="1600" dirty="0"/>
          </a:p>
        </p:txBody>
      </p:sp>
      <p:sp>
        <p:nvSpPr>
          <p:cNvPr id="3" name="Text 1"/>
          <p:cNvSpPr txBox="1"/>
          <p:nvPr/>
        </p:nvSpPr>
        <p:spPr>
          <a:xfrm>
            <a:off x="1234440" y="320040"/>
            <a:ext cx="1188720" cy="256032"/>
          </a:xfrm>
          <a:prstGeom prst="rect">
            <a:avLst/>
          </a:prstGeom>
          <a:noFill/>
          <a:ln/>
        </p:spPr>
        <p:txBody>
          <a:bodyPr wrap="square" lIns="0" tIns="0" rIns="0" bIns="0" rtlCol="0" anchor="ctr">
            <a:normAutofit/>
          </a:bodyPr>
          <a:lstStyle/>
          <a:p>
            <a:pPr algn="l" indent="0" marL="0">
              <a:lnSpc>
                <a:spcPct val="100000"/>
              </a:lnSpc>
              <a:buNone/>
            </a:pPr>
            <a:r>
              <a:rPr lang="en-US" sz="1000" b="1" spc="170" kern="0" dirty="0">
                <a:solidFill>
                  <a:srgbClr val="2F813C"/>
                </a:solidFill>
                <a:latin typeface="Inter" pitchFamily="34" charset="0"/>
                <a:ea typeface="Inter" pitchFamily="34" charset="-122"/>
                <a:cs typeface="Inter" pitchFamily="34" charset="-120"/>
              </a:rPr>
              <a:t>LAYER FARM</a:t>
            </a:r>
            <a:endParaRPr lang="en-US" sz="1000" dirty="0"/>
          </a:p>
        </p:txBody>
      </p:sp>
      <p:sp>
        <p:nvSpPr>
          <p:cNvPr id="4" name="Text 2"/>
          <p:cNvSpPr txBox="1"/>
          <p:nvPr/>
        </p:nvSpPr>
        <p:spPr>
          <a:xfrm>
            <a:off x="548640" y="713232"/>
            <a:ext cx="3931920" cy="228600"/>
          </a:xfrm>
          <a:prstGeom prst="rect">
            <a:avLst/>
          </a:prstGeom>
          <a:noFill/>
          <a:ln/>
        </p:spPr>
        <p:txBody>
          <a:bodyPr wrap="square" lIns="0" tIns="0" rIns="0" bIns="0" rtlCol="0" anchor="ctr">
            <a:normAutofit/>
          </a:bodyPr>
          <a:lstStyle/>
          <a:p>
            <a:pPr algn="l" indent="0" marL="0">
              <a:lnSpc>
                <a:spcPct val="100000"/>
              </a:lnSpc>
              <a:buNone/>
            </a:pPr>
            <a:r>
              <a:rPr lang="en-US" sz="900" b="1" spc="140" kern="0" dirty="0">
                <a:solidFill>
                  <a:srgbClr val="2F813C"/>
                </a:solidFill>
                <a:latin typeface="Inter" pitchFamily="34" charset="0"/>
                <a:ea typeface="Inter" pitchFamily="34" charset="-122"/>
                <a:cs typeface="Inter" pitchFamily="34" charset="-120"/>
              </a:rPr>
              <a:t>RUANG LINGKUP PENGENALAN</a:t>
            </a:r>
            <a:endParaRPr lang="en-US" sz="900" dirty="0"/>
          </a:p>
        </p:txBody>
      </p:sp>
      <p:sp>
        <p:nvSpPr>
          <p:cNvPr id="5" name="Shape 3"/>
          <p:cNvSpPr/>
          <p:nvPr/>
        </p:nvSpPr>
        <p:spPr>
          <a:xfrm>
            <a:off x="548640" y="987552"/>
            <a:ext cx="384048" cy="32004"/>
          </a:xfrm>
          <a:prstGeom prst="rect">
            <a:avLst/>
          </a:prstGeom>
          <a:solidFill>
            <a:srgbClr val="D84A1B"/>
          </a:solidFill>
          <a:ln w="12700">
            <a:solidFill>
              <a:srgbClr val="D84A1B"/>
            </a:solidFill>
            <a:prstDash val="solid"/>
          </a:ln>
        </p:spPr>
      </p:sp>
      <p:sp>
        <p:nvSpPr>
          <p:cNvPr id="6" name="Text 4"/>
          <p:cNvSpPr txBox="1"/>
          <p:nvPr/>
        </p:nvSpPr>
        <p:spPr>
          <a:xfrm>
            <a:off x="548640" y="1170432"/>
            <a:ext cx="5852160" cy="1024128"/>
          </a:xfrm>
          <a:prstGeom prst="rect">
            <a:avLst/>
          </a:prstGeom>
          <a:noFill/>
          <a:ln/>
        </p:spPr>
        <p:txBody>
          <a:bodyPr wrap="square" lIns="0" tIns="0" rIns="0" bIns="0" rtlCol="0" anchor="ctr">
            <a:normAutofit/>
          </a:bodyPr>
          <a:lstStyle/>
          <a:p>
            <a:pPr algn="l" indent="0" marL="0">
              <a:lnSpc>
                <a:spcPct val="100000"/>
              </a:lnSpc>
              <a:buNone/>
            </a:pPr>
            <a:r>
              <a:rPr lang="en-US" sz="3100" b="1" dirty="0">
                <a:solidFill>
                  <a:srgbClr val="153326"/>
                </a:solidFill>
                <a:latin typeface="Inter" pitchFamily="34" charset="0"/>
                <a:ea typeface="Inter" pitchFamily="34" charset="-122"/>
                <a:cs typeface="Inter" pitchFamily="34" charset="-120"/>
              </a:rPr>
              <a:t>Satu farm, beberapa bagian penting</a:t>
            </a:r>
            <a:endParaRPr lang="en-US" sz="3100" dirty="0"/>
          </a:p>
          <a:p>
            <a:pPr algn="l" indent="0" marL="0">
              <a:lnSpc>
                <a:spcPct val="100000"/>
              </a:lnSpc>
              <a:buNone/>
            </a:pPr>
            <a:r>
              <a:rPr lang="en-US" sz="3100" b="1" dirty="0">
                <a:solidFill>
                  <a:srgbClr val="153326"/>
                </a:solidFill>
                <a:latin typeface="Inter" pitchFamily="34" charset="0"/>
                <a:ea typeface="Inter" pitchFamily="34" charset="-122"/>
                <a:cs typeface="Inter" pitchFamily="34" charset="-120"/>
              </a:rPr>
              <a:t>yang saling terhubung.</a:t>
            </a:r>
            <a:endParaRPr lang="en-US" sz="3100" dirty="0"/>
          </a:p>
        </p:txBody>
      </p:sp>
      <p:sp>
        <p:nvSpPr>
          <p:cNvPr id="7" name="Text 5"/>
          <p:cNvSpPr txBox="1"/>
          <p:nvPr/>
        </p:nvSpPr>
        <p:spPr>
          <a:xfrm>
            <a:off x="566928" y="2395728"/>
            <a:ext cx="5532120" cy="713232"/>
          </a:xfrm>
          <a:prstGeom prst="rect">
            <a:avLst/>
          </a:prstGeom>
          <a:noFill/>
          <a:ln/>
        </p:spPr>
        <p:txBody>
          <a:bodyPr wrap="square" lIns="0" tIns="0" rIns="0" bIns="0" rtlCol="0" anchor="ctr">
            <a:normAutofit/>
          </a:bodyPr>
          <a:lstStyle/>
          <a:p>
            <a:pPr algn="l" indent="0" marL="0">
              <a:lnSpc>
                <a:spcPct val="100000"/>
              </a:lnSpc>
              <a:buNone/>
            </a:pPr>
            <a:r>
              <a:rPr lang="en-US" sz="1400" dirty="0">
                <a:solidFill>
                  <a:srgbClr val="66756D"/>
                </a:solidFill>
                <a:latin typeface="Inter" pitchFamily="34" charset="0"/>
                <a:ea typeface="Inter" pitchFamily="34" charset="-122"/>
                <a:cs typeface="Inter" pitchFamily="34" charset="-120"/>
              </a:rPr>
              <a:t>Pengenalan ini cukup menunjukkan arah: apa yang dapat dicatat, dipantau, dan ditelusuri. Detail proses tetap dibahas saat kebutuhan farm sudah jelas.</a:t>
            </a:r>
            <a:endParaRPr lang="en-US" sz="1400" dirty="0"/>
          </a:p>
        </p:txBody>
      </p:sp>
      <p:sp>
        <p:nvSpPr>
          <p:cNvPr id="8" name="Shape 6"/>
          <p:cNvSpPr/>
          <p:nvPr/>
        </p:nvSpPr>
        <p:spPr>
          <a:xfrm>
            <a:off x="566928" y="3456432"/>
            <a:ext cx="2587752" cy="1993392"/>
          </a:xfrm>
          <a:prstGeom prst="roundRect">
            <a:avLst>
              <a:gd name="adj" fmla="val 8257"/>
            </a:avLst>
          </a:prstGeom>
          <a:solidFill>
            <a:srgbClr val="FFFFFF"/>
          </a:solidFill>
          <a:ln w="10160">
            <a:solidFill>
              <a:srgbClr val="D7E1D6"/>
            </a:solidFill>
            <a:prstDash val="solid"/>
          </a:ln>
          <a:effectLst>
            <a:outerShdw sx="100000" sy="100000" kx="0" ky="0" algn="bl" rotWithShape="0" blurRad="12700" dist="50800" dir="2700000">
              <a:srgbClr val="5A6F60">
                <a:alpha val="8000"/>
              </a:srgbClr>
            </a:outerShdw>
          </a:effectLst>
        </p:spPr>
      </p:sp>
      <p:sp>
        <p:nvSpPr>
          <p:cNvPr id="9" name="Text 7"/>
          <p:cNvSpPr txBox="1"/>
          <p:nvPr/>
        </p:nvSpPr>
        <p:spPr>
          <a:xfrm>
            <a:off x="768096" y="3611880"/>
            <a:ext cx="420624" cy="228600"/>
          </a:xfrm>
          <a:prstGeom prst="rect">
            <a:avLst/>
          </a:prstGeom>
          <a:noFill/>
          <a:ln/>
        </p:spPr>
        <p:txBody>
          <a:bodyPr wrap="square" lIns="0" tIns="0" rIns="0" bIns="0" rtlCol="0" anchor="ctr">
            <a:normAutofit/>
          </a:bodyPr>
          <a:lstStyle/>
          <a:p>
            <a:pPr algn="l" indent="0" marL="0">
              <a:lnSpc>
                <a:spcPct val="100000"/>
              </a:lnSpc>
              <a:buNone/>
            </a:pPr>
            <a:r>
              <a:rPr lang="en-US" sz="900" b="1" spc="120" kern="0" dirty="0">
                <a:solidFill>
                  <a:srgbClr val="D84A1B"/>
                </a:solidFill>
                <a:latin typeface="Inter" pitchFamily="34" charset="0"/>
                <a:ea typeface="Inter" pitchFamily="34" charset="-122"/>
                <a:cs typeface="Inter" pitchFamily="34" charset="-120"/>
              </a:rPr>
              <a:t>01</a:t>
            </a:r>
            <a:endParaRPr lang="en-US" sz="900" dirty="0"/>
          </a:p>
        </p:txBody>
      </p:sp>
      <p:sp>
        <p:nvSpPr>
          <p:cNvPr id="10" name="Shape 8"/>
          <p:cNvSpPr/>
          <p:nvPr/>
        </p:nvSpPr>
        <p:spPr>
          <a:xfrm>
            <a:off x="768096" y="3986784"/>
            <a:ext cx="347472" cy="45720"/>
          </a:xfrm>
          <a:prstGeom prst="rect">
            <a:avLst/>
          </a:prstGeom>
          <a:solidFill>
            <a:srgbClr val="D84A1B"/>
          </a:solidFill>
          <a:ln w="12700">
            <a:solidFill>
              <a:srgbClr val="D84A1B"/>
            </a:solidFill>
            <a:prstDash val="solid"/>
          </a:ln>
        </p:spPr>
      </p:sp>
      <p:sp>
        <p:nvSpPr>
          <p:cNvPr id="11" name="Text 9"/>
          <p:cNvSpPr txBox="1"/>
          <p:nvPr/>
        </p:nvSpPr>
        <p:spPr>
          <a:xfrm>
            <a:off x="768096" y="4187952"/>
            <a:ext cx="2185416" cy="621792"/>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153326"/>
                </a:solidFill>
                <a:latin typeface="Inter" pitchFamily="34" charset="0"/>
                <a:ea typeface="Inter" pitchFamily="34" charset="-122"/>
                <a:cs typeface="Inter" pitchFamily="34" charset="-120"/>
              </a:rPr>
              <a:t>Pakan &amp;</a:t>
            </a:r>
            <a:endParaRPr lang="en-US" sz="1700" dirty="0"/>
          </a:p>
          <a:p>
            <a:pPr algn="l" indent="0" marL="0">
              <a:lnSpc>
                <a:spcPct val="100000"/>
              </a:lnSpc>
              <a:buNone/>
            </a:pPr>
            <a:r>
              <a:rPr lang="en-US" sz="1700" b="1" dirty="0">
                <a:solidFill>
                  <a:srgbClr val="153326"/>
                </a:solidFill>
                <a:latin typeface="Inter" pitchFamily="34" charset="0"/>
                <a:ea typeface="Inter" pitchFamily="34" charset="-122"/>
                <a:cs typeface="Inter" pitchFamily="34" charset="-120"/>
              </a:rPr>
              <a:t>Persediaan</a:t>
            </a:r>
            <a:endParaRPr lang="en-US" sz="1700" dirty="0"/>
          </a:p>
        </p:txBody>
      </p:sp>
      <p:sp>
        <p:nvSpPr>
          <p:cNvPr id="12" name="Text 10"/>
          <p:cNvSpPr txBox="1"/>
          <p:nvPr/>
        </p:nvSpPr>
        <p:spPr>
          <a:xfrm>
            <a:off x="768096" y="4873752"/>
            <a:ext cx="2185416" cy="411480"/>
          </a:xfrm>
          <a:prstGeom prst="rect">
            <a:avLst/>
          </a:prstGeom>
          <a:noFill/>
          <a:ln/>
        </p:spPr>
        <p:txBody>
          <a:bodyPr wrap="square" lIns="0" tIns="0" rIns="0" bIns="0" rtlCol="0" anchor="ctr">
            <a:normAutofit/>
          </a:bodyPr>
          <a:lstStyle/>
          <a:p>
            <a:pPr algn="l" indent="0" marL="0">
              <a:lnSpc>
                <a:spcPct val="100000"/>
              </a:lnSpc>
              <a:buNone/>
            </a:pPr>
            <a:r>
              <a:rPr lang="en-US" sz="920" dirty="0">
                <a:solidFill>
                  <a:srgbClr val="66756D"/>
                </a:solidFill>
                <a:latin typeface="Inter" pitchFamily="34" charset="0"/>
                <a:ea typeface="Inter" pitchFamily="34" charset="-122"/>
                <a:cs typeface="Inter" pitchFamily="34" charset="-120"/>
              </a:rPr>
              <a:t>Lihat penggunaan dan konteks ketersediaan sebagai bagian dari aktivitas farm.</a:t>
            </a:r>
            <a:endParaRPr lang="en-US" sz="920" dirty="0"/>
          </a:p>
        </p:txBody>
      </p:sp>
      <p:sp>
        <p:nvSpPr>
          <p:cNvPr id="13" name="Shape 11"/>
          <p:cNvSpPr/>
          <p:nvPr/>
        </p:nvSpPr>
        <p:spPr>
          <a:xfrm>
            <a:off x="3310128" y="3456432"/>
            <a:ext cx="2587752" cy="1993392"/>
          </a:xfrm>
          <a:prstGeom prst="roundRect">
            <a:avLst>
              <a:gd name="adj" fmla="val 8257"/>
            </a:avLst>
          </a:prstGeom>
          <a:solidFill>
            <a:srgbClr val="FFFFFF"/>
          </a:solidFill>
          <a:ln w="10160">
            <a:solidFill>
              <a:srgbClr val="D7E1D6"/>
            </a:solidFill>
            <a:prstDash val="solid"/>
          </a:ln>
          <a:effectLst>
            <a:outerShdw sx="100000" sy="100000" kx="0" ky="0" algn="bl" rotWithShape="0" blurRad="12700" dist="50800" dir="2700000">
              <a:srgbClr val="5A6F60">
                <a:alpha val="8000"/>
              </a:srgbClr>
            </a:outerShdw>
          </a:effectLst>
        </p:spPr>
      </p:sp>
      <p:sp>
        <p:nvSpPr>
          <p:cNvPr id="14" name="Text 12"/>
          <p:cNvSpPr txBox="1"/>
          <p:nvPr/>
        </p:nvSpPr>
        <p:spPr>
          <a:xfrm>
            <a:off x="3511296" y="3611880"/>
            <a:ext cx="420624" cy="228600"/>
          </a:xfrm>
          <a:prstGeom prst="rect">
            <a:avLst/>
          </a:prstGeom>
          <a:noFill/>
          <a:ln/>
        </p:spPr>
        <p:txBody>
          <a:bodyPr wrap="square" lIns="0" tIns="0" rIns="0" bIns="0" rtlCol="0" anchor="ctr">
            <a:normAutofit/>
          </a:bodyPr>
          <a:lstStyle/>
          <a:p>
            <a:pPr algn="l" indent="0" marL="0">
              <a:lnSpc>
                <a:spcPct val="100000"/>
              </a:lnSpc>
              <a:buNone/>
            </a:pPr>
            <a:r>
              <a:rPr lang="en-US" sz="900" b="1" spc="120" kern="0" dirty="0">
                <a:solidFill>
                  <a:srgbClr val="C94936"/>
                </a:solidFill>
                <a:latin typeface="Inter" pitchFamily="34" charset="0"/>
                <a:ea typeface="Inter" pitchFamily="34" charset="-122"/>
                <a:cs typeface="Inter" pitchFamily="34" charset="-120"/>
              </a:rPr>
              <a:t>02</a:t>
            </a:r>
            <a:endParaRPr lang="en-US" sz="900" dirty="0"/>
          </a:p>
        </p:txBody>
      </p:sp>
      <p:sp>
        <p:nvSpPr>
          <p:cNvPr id="15" name="Shape 13"/>
          <p:cNvSpPr/>
          <p:nvPr/>
        </p:nvSpPr>
        <p:spPr>
          <a:xfrm>
            <a:off x="3511296" y="3986784"/>
            <a:ext cx="347472" cy="45720"/>
          </a:xfrm>
          <a:prstGeom prst="rect">
            <a:avLst/>
          </a:prstGeom>
          <a:solidFill>
            <a:srgbClr val="C94936"/>
          </a:solidFill>
          <a:ln w="12700">
            <a:solidFill>
              <a:srgbClr val="C94936"/>
            </a:solidFill>
            <a:prstDash val="solid"/>
          </a:ln>
        </p:spPr>
      </p:sp>
      <p:sp>
        <p:nvSpPr>
          <p:cNvPr id="16" name="Text 14"/>
          <p:cNvSpPr txBox="1"/>
          <p:nvPr/>
        </p:nvSpPr>
        <p:spPr>
          <a:xfrm>
            <a:off x="3511296" y="4187952"/>
            <a:ext cx="2185416" cy="621792"/>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153326"/>
                </a:solidFill>
                <a:latin typeface="Inter" pitchFamily="34" charset="0"/>
                <a:ea typeface="Inter" pitchFamily="34" charset="-122"/>
                <a:cs typeface="Inter" pitchFamily="34" charset="-120"/>
              </a:rPr>
              <a:t>Kesehatan &amp;</a:t>
            </a:r>
            <a:endParaRPr lang="en-US" sz="1700" dirty="0"/>
          </a:p>
          <a:p>
            <a:pPr algn="l" indent="0" marL="0">
              <a:lnSpc>
                <a:spcPct val="100000"/>
              </a:lnSpc>
              <a:buNone/>
            </a:pPr>
            <a:r>
              <a:rPr lang="en-US" sz="1700" b="1" dirty="0">
                <a:solidFill>
                  <a:srgbClr val="153326"/>
                </a:solidFill>
                <a:latin typeface="Inter" pitchFamily="34" charset="0"/>
                <a:ea typeface="Inter" pitchFamily="34" charset="-122"/>
                <a:cs typeface="Inter" pitchFamily="34" charset="-120"/>
              </a:rPr>
              <a:t>Vaksin</a:t>
            </a:r>
            <a:endParaRPr lang="en-US" sz="1700" dirty="0"/>
          </a:p>
        </p:txBody>
      </p:sp>
      <p:sp>
        <p:nvSpPr>
          <p:cNvPr id="17" name="Text 15"/>
          <p:cNvSpPr txBox="1"/>
          <p:nvPr/>
        </p:nvSpPr>
        <p:spPr>
          <a:xfrm>
            <a:off x="3511296" y="4873752"/>
            <a:ext cx="2185416" cy="411480"/>
          </a:xfrm>
          <a:prstGeom prst="rect">
            <a:avLst/>
          </a:prstGeom>
          <a:noFill/>
          <a:ln/>
        </p:spPr>
        <p:txBody>
          <a:bodyPr wrap="square" lIns="0" tIns="0" rIns="0" bIns="0" rtlCol="0" anchor="ctr">
            <a:normAutofit/>
          </a:bodyPr>
          <a:lstStyle/>
          <a:p>
            <a:pPr algn="l" indent="0" marL="0">
              <a:lnSpc>
                <a:spcPct val="100000"/>
              </a:lnSpc>
              <a:buNone/>
            </a:pPr>
            <a:r>
              <a:rPr lang="en-US" sz="920" dirty="0">
                <a:solidFill>
                  <a:srgbClr val="66756D"/>
                </a:solidFill>
                <a:latin typeface="Inter" pitchFamily="34" charset="0"/>
                <a:ea typeface="Inter" pitchFamily="34" charset="-122"/>
                <a:cs typeface="Inter" pitchFamily="34" charset="-120"/>
              </a:rPr>
              <a:t>Simpan catatan tindakan agar histori kesehatan lebih mudah ditinjau.</a:t>
            </a:r>
            <a:endParaRPr lang="en-US" sz="920" dirty="0"/>
          </a:p>
        </p:txBody>
      </p:sp>
      <p:sp>
        <p:nvSpPr>
          <p:cNvPr id="18" name="Shape 16"/>
          <p:cNvSpPr/>
          <p:nvPr/>
        </p:nvSpPr>
        <p:spPr>
          <a:xfrm>
            <a:off x="6053328" y="3456432"/>
            <a:ext cx="2587752" cy="1993392"/>
          </a:xfrm>
          <a:prstGeom prst="roundRect">
            <a:avLst>
              <a:gd name="adj" fmla="val 8257"/>
            </a:avLst>
          </a:prstGeom>
          <a:solidFill>
            <a:srgbClr val="FFFFFF"/>
          </a:solidFill>
          <a:ln w="10160">
            <a:solidFill>
              <a:srgbClr val="D7E1D6"/>
            </a:solidFill>
            <a:prstDash val="solid"/>
          </a:ln>
          <a:effectLst>
            <a:outerShdw sx="100000" sy="100000" kx="0" ky="0" algn="bl" rotWithShape="0" blurRad="12700" dist="50800" dir="2700000">
              <a:srgbClr val="5A6F60">
                <a:alpha val="8000"/>
              </a:srgbClr>
            </a:outerShdw>
          </a:effectLst>
        </p:spPr>
      </p:sp>
      <p:sp>
        <p:nvSpPr>
          <p:cNvPr id="19" name="Text 17"/>
          <p:cNvSpPr txBox="1"/>
          <p:nvPr/>
        </p:nvSpPr>
        <p:spPr>
          <a:xfrm>
            <a:off x="6254496" y="3611880"/>
            <a:ext cx="420624" cy="228600"/>
          </a:xfrm>
          <a:prstGeom prst="rect">
            <a:avLst/>
          </a:prstGeom>
          <a:noFill/>
          <a:ln/>
        </p:spPr>
        <p:txBody>
          <a:bodyPr wrap="square" lIns="0" tIns="0" rIns="0" bIns="0" rtlCol="0" anchor="ctr">
            <a:normAutofit/>
          </a:bodyPr>
          <a:lstStyle/>
          <a:p>
            <a:pPr algn="l" indent="0" marL="0">
              <a:lnSpc>
                <a:spcPct val="100000"/>
              </a:lnSpc>
              <a:buNone/>
            </a:pPr>
            <a:r>
              <a:rPr lang="en-US" sz="900" b="1" spc="120" kern="0" dirty="0">
                <a:solidFill>
                  <a:srgbClr val="4E9A57"/>
                </a:solidFill>
                <a:latin typeface="Inter" pitchFamily="34" charset="0"/>
                <a:ea typeface="Inter" pitchFamily="34" charset="-122"/>
                <a:cs typeface="Inter" pitchFamily="34" charset="-120"/>
              </a:rPr>
              <a:t>03</a:t>
            </a:r>
            <a:endParaRPr lang="en-US" sz="900" dirty="0"/>
          </a:p>
        </p:txBody>
      </p:sp>
      <p:sp>
        <p:nvSpPr>
          <p:cNvPr id="20" name="Shape 18"/>
          <p:cNvSpPr/>
          <p:nvPr/>
        </p:nvSpPr>
        <p:spPr>
          <a:xfrm>
            <a:off x="6254496" y="3986784"/>
            <a:ext cx="347472" cy="45720"/>
          </a:xfrm>
          <a:prstGeom prst="rect">
            <a:avLst/>
          </a:prstGeom>
          <a:solidFill>
            <a:srgbClr val="4E9A57"/>
          </a:solidFill>
          <a:ln w="12700">
            <a:solidFill>
              <a:srgbClr val="4E9A57"/>
            </a:solidFill>
            <a:prstDash val="solid"/>
          </a:ln>
        </p:spPr>
      </p:sp>
      <p:sp>
        <p:nvSpPr>
          <p:cNvPr id="21" name="Text 19"/>
          <p:cNvSpPr txBox="1"/>
          <p:nvPr/>
        </p:nvSpPr>
        <p:spPr>
          <a:xfrm>
            <a:off x="6254496" y="4187952"/>
            <a:ext cx="2185416" cy="621792"/>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153326"/>
                </a:solidFill>
                <a:latin typeface="Inter" pitchFamily="34" charset="0"/>
                <a:ea typeface="Inter" pitchFamily="34" charset="-122"/>
                <a:cs typeface="Inter" pitchFamily="34" charset="-120"/>
              </a:rPr>
              <a:t>Populasi &amp;</a:t>
            </a:r>
            <a:endParaRPr lang="en-US" sz="1700" dirty="0"/>
          </a:p>
          <a:p>
            <a:pPr algn="l" indent="0" marL="0">
              <a:lnSpc>
                <a:spcPct val="100000"/>
              </a:lnSpc>
              <a:buNone/>
            </a:pPr>
            <a:r>
              <a:rPr lang="en-US" sz="1700" b="1" dirty="0">
                <a:solidFill>
                  <a:srgbClr val="153326"/>
                </a:solidFill>
                <a:latin typeface="Inter" pitchFamily="34" charset="0"/>
                <a:ea typeface="Inter" pitchFamily="34" charset="-122"/>
                <a:cs typeface="Inter" pitchFamily="34" charset="-120"/>
              </a:rPr>
              <a:t>Siklus</a:t>
            </a:r>
            <a:endParaRPr lang="en-US" sz="1700" dirty="0"/>
          </a:p>
        </p:txBody>
      </p:sp>
      <p:sp>
        <p:nvSpPr>
          <p:cNvPr id="22" name="Text 20"/>
          <p:cNvSpPr txBox="1"/>
          <p:nvPr/>
        </p:nvSpPr>
        <p:spPr>
          <a:xfrm>
            <a:off x="6254496" y="4873752"/>
            <a:ext cx="2185416" cy="411480"/>
          </a:xfrm>
          <a:prstGeom prst="rect">
            <a:avLst/>
          </a:prstGeom>
          <a:noFill/>
          <a:ln/>
        </p:spPr>
        <p:txBody>
          <a:bodyPr wrap="square" lIns="0" tIns="0" rIns="0" bIns="0" rtlCol="0" anchor="ctr">
            <a:normAutofit/>
          </a:bodyPr>
          <a:lstStyle/>
          <a:p>
            <a:pPr algn="l" indent="0" marL="0">
              <a:lnSpc>
                <a:spcPct val="100000"/>
              </a:lnSpc>
              <a:buNone/>
            </a:pPr>
            <a:r>
              <a:rPr lang="en-US" sz="920" dirty="0">
                <a:solidFill>
                  <a:srgbClr val="66756D"/>
                </a:solidFill>
                <a:latin typeface="Inter" pitchFamily="34" charset="0"/>
                <a:ea typeface="Inter" pitchFamily="34" charset="-122"/>
                <a:cs typeface="Inter" pitchFamily="34" charset="-120"/>
              </a:rPr>
              <a:t>Pertahankan konteks perubahan populasi sepanjang perjalanan satu siklus.</a:t>
            </a:r>
            <a:endParaRPr lang="en-US" sz="920" dirty="0"/>
          </a:p>
        </p:txBody>
      </p:sp>
      <p:sp>
        <p:nvSpPr>
          <p:cNvPr id="23" name="Shape 21"/>
          <p:cNvSpPr/>
          <p:nvPr/>
        </p:nvSpPr>
        <p:spPr>
          <a:xfrm>
            <a:off x="8796528" y="3456432"/>
            <a:ext cx="2587752" cy="1993392"/>
          </a:xfrm>
          <a:prstGeom prst="roundRect">
            <a:avLst>
              <a:gd name="adj" fmla="val 8257"/>
            </a:avLst>
          </a:prstGeom>
          <a:solidFill>
            <a:srgbClr val="FFFFFF"/>
          </a:solidFill>
          <a:ln w="10160">
            <a:solidFill>
              <a:srgbClr val="D7E1D6"/>
            </a:solidFill>
            <a:prstDash val="solid"/>
          </a:ln>
          <a:effectLst>
            <a:outerShdw sx="100000" sy="100000" kx="0" ky="0" algn="bl" rotWithShape="0" blurRad="12700" dist="50800" dir="2700000">
              <a:srgbClr val="5A6F60">
                <a:alpha val="8000"/>
              </a:srgbClr>
            </a:outerShdw>
          </a:effectLst>
        </p:spPr>
      </p:sp>
      <p:sp>
        <p:nvSpPr>
          <p:cNvPr id="24" name="Text 22"/>
          <p:cNvSpPr txBox="1"/>
          <p:nvPr/>
        </p:nvSpPr>
        <p:spPr>
          <a:xfrm>
            <a:off x="8997696" y="3611880"/>
            <a:ext cx="420624" cy="228600"/>
          </a:xfrm>
          <a:prstGeom prst="rect">
            <a:avLst/>
          </a:prstGeom>
          <a:noFill/>
          <a:ln/>
        </p:spPr>
        <p:txBody>
          <a:bodyPr wrap="square" lIns="0" tIns="0" rIns="0" bIns="0" rtlCol="0" anchor="ctr">
            <a:normAutofit/>
          </a:bodyPr>
          <a:lstStyle/>
          <a:p>
            <a:pPr algn="l" indent="0" marL="0">
              <a:lnSpc>
                <a:spcPct val="100000"/>
              </a:lnSpc>
              <a:buNone/>
            </a:pPr>
            <a:r>
              <a:rPr lang="en-US" sz="900" b="1" spc="120" kern="0" dirty="0">
                <a:solidFill>
                  <a:srgbClr val="3F6D8A"/>
                </a:solidFill>
                <a:latin typeface="Inter" pitchFamily="34" charset="0"/>
                <a:ea typeface="Inter" pitchFamily="34" charset="-122"/>
                <a:cs typeface="Inter" pitchFamily="34" charset="-120"/>
              </a:rPr>
              <a:t>04</a:t>
            </a:r>
            <a:endParaRPr lang="en-US" sz="900" dirty="0"/>
          </a:p>
        </p:txBody>
      </p:sp>
      <p:sp>
        <p:nvSpPr>
          <p:cNvPr id="25" name="Shape 23"/>
          <p:cNvSpPr/>
          <p:nvPr/>
        </p:nvSpPr>
        <p:spPr>
          <a:xfrm>
            <a:off x="8997696" y="3986784"/>
            <a:ext cx="347472" cy="45720"/>
          </a:xfrm>
          <a:prstGeom prst="rect">
            <a:avLst/>
          </a:prstGeom>
          <a:solidFill>
            <a:srgbClr val="3F6D8A"/>
          </a:solidFill>
          <a:ln w="12700">
            <a:solidFill>
              <a:srgbClr val="3F6D8A"/>
            </a:solidFill>
            <a:prstDash val="solid"/>
          </a:ln>
        </p:spPr>
      </p:sp>
      <p:sp>
        <p:nvSpPr>
          <p:cNvPr id="26" name="Text 24"/>
          <p:cNvSpPr txBox="1"/>
          <p:nvPr/>
        </p:nvSpPr>
        <p:spPr>
          <a:xfrm>
            <a:off x="8997696" y="4187952"/>
            <a:ext cx="2185416" cy="621792"/>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153326"/>
                </a:solidFill>
                <a:latin typeface="Inter" pitchFamily="34" charset="0"/>
                <a:ea typeface="Inter" pitchFamily="34" charset="-122"/>
                <a:cs typeface="Inter" pitchFamily="34" charset="-120"/>
              </a:rPr>
              <a:t>Histori &amp;</a:t>
            </a:r>
            <a:endParaRPr lang="en-US" sz="1700" dirty="0"/>
          </a:p>
          <a:p>
            <a:pPr algn="l" indent="0" marL="0">
              <a:lnSpc>
                <a:spcPct val="100000"/>
              </a:lnSpc>
              <a:buNone/>
            </a:pPr>
            <a:r>
              <a:rPr lang="en-US" sz="1700" b="1" dirty="0">
                <a:solidFill>
                  <a:srgbClr val="153326"/>
                </a:solidFill>
                <a:latin typeface="Inter" pitchFamily="34" charset="0"/>
                <a:ea typeface="Inter" pitchFamily="34" charset="-122"/>
                <a:cs typeface="Inter" pitchFamily="34" charset="-120"/>
              </a:rPr>
              <a:t>Monitoring</a:t>
            </a:r>
            <a:endParaRPr lang="en-US" sz="1700" dirty="0"/>
          </a:p>
        </p:txBody>
      </p:sp>
      <p:sp>
        <p:nvSpPr>
          <p:cNvPr id="27" name="Text 25"/>
          <p:cNvSpPr txBox="1"/>
          <p:nvPr/>
        </p:nvSpPr>
        <p:spPr>
          <a:xfrm>
            <a:off x="8997696" y="4873752"/>
            <a:ext cx="2185416" cy="411480"/>
          </a:xfrm>
          <a:prstGeom prst="rect">
            <a:avLst/>
          </a:prstGeom>
          <a:noFill/>
          <a:ln/>
        </p:spPr>
        <p:txBody>
          <a:bodyPr wrap="square" lIns="0" tIns="0" rIns="0" bIns="0" rtlCol="0" anchor="ctr">
            <a:normAutofit/>
          </a:bodyPr>
          <a:lstStyle/>
          <a:p>
            <a:pPr algn="l" indent="0" marL="0">
              <a:lnSpc>
                <a:spcPct val="100000"/>
              </a:lnSpc>
              <a:buNone/>
            </a:pPr>
            <a:r>
              <a:rPr lang="en-US" sz="920" dirty="0">
                <a:solidFill>
                  <a:srgbClr val="66756D"/>
                </a:solidFill>
                <a:latin typeface="Inter" pitchFamily="34" charset="0"/>
                <a:ea typeface="Inter" pitchFamily="34" charset="-122"/>
                <a:cs typeface="Inter" pitchFamily="34" charset="-120"/>
              </a:rPr>
              <a:t>Baca kembali perjalanan farm dan sinyal yang perlu mendapat perhatian.</a:t>
            </a:r>
            <a:endParaRPr lang="en-US" sz="920" dirty="0"/>
          </a:p>
        </p:txBody>
      </p:sp>
      <p:sp>
        <p:nvSpPr>
          <p:cNvPr id="28" name="Text 26"/>
          <p:cNvSpPr txBox="1"/>
          <p:nvPr/>
        </p:nvSpPr>
        <p:spPr>
          <a:xfrm>
            <a:off x="566928" y="5833872"/>
            <a:ext cx="2331720" cy="274320"/>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2F813C"/>
                </a:solidFill>
                <a:latin typeface="Inter" pitchFamily="34" charset="0"/>
                <a:ea typeface="Inter" pitchFamily="34" charset="-122"/>
                <a:cs typeface="Inter" pitchFamily="34" charset="-120"/>
              </a:rPr>
              <a:t>Teaser, bukan daftar fitur lengkap.</a:t>
            </a:r>
            <a:endParaRPr lang="en-US" sz="1000" dirty="0"/>
          </a:p>
        </p:txBody>
      </p:sp>
      <p:sp>
        <p:nvSpPr>
          <p:cNvPr id="29" name="Text 27"/>
          <p:cNvSpPr txBox="1"/>
          <p:nvPr/>
        </p:nvSpPr>
        <p:spPr>
          <a:xfrm>
            <a:off x="3035808" y="5797296"/>
            <a:ext cx="7818120" cy="384048"/>
          </a:xfrm>
          <a:prstGeom prst="rect">
            <a:avLst/>
          </a:prstGeom>
          <a:noFill/>
          <a:ln/>
        </p:spPr>
        <p:txBody>
          <a:bodyPr wrap="square" lIns="0" tIns="0" rIns="0" bIns="0" rtlCol="0" anchor="ctr">
            <a:normAutofit/>
          </a:bodyPr>
          <a:lstStyle/>
          <a:p>
            <a:pPr algn="l" indent="0" marL="0">
              <a:lnSpc>
                <a:spcPct val="100000"/>
              </a:lnSpc>
              <a:buNone/>
            </a:pPr>
            <a:r>
              <a:rPr lang="en-US" sz="940" dirty="0">
                <a:solidFill>
                  <a:srgbClr val="66756D"/>
                </a:solidFill>
                <a:latin typeface="Inter" pitchFamily="34" charset="0"/>
                <a:ea typeface="Inter" pitchFamily="34" charset="-122"/>
                <a:cs typeface="Inter" pitchFamily="34" charset="-120"/>
              </a:rPr>
              <a:t>Tujuan slide: membuat pelanggan memahami cakupan tanpa membawa pembahasan ke detail teknis, konfigurasi, atau rule internal.</a:t>
            </a:r>
            <a:endParaRPr lang="en-US" sz="940" dirty="0"/>
          </a:p>
        </p:txBody>
      </p:sp>
      <p:sp>
        <p:nvSpPr>
          <p:cNvPr id="25" name="Slide Number Placeholder 0"/>
          <p:cNvSpPr>
            <a:spLocks noGrp="1"/>
          </p:cNvSpPr>
          <p:nvPr>
            <p:ph type="sldNum" sz="quarter" idx="4294967295"/>
          </p:nvPr>
        </p:nvSpPr>
        <p:spPr>
          <a:xfrm>
            <a:off x="11384280" y="6446520"/>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7877F"/>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251B"/>
        </a:solidFill>
      </p:bgPr>
    </p:bg>
    <p:spTree>
      <p:nvGrpSpPr>
        <p:cNvPr id="1" name=""/>
        <p:cNvGrpSpPr/>
        <p:nvPr/>
      </p:nvGrpSpPr>
      <p:grpSpPr>
        <a:xfrm>
          <a:off x="0" y="0"/>
          <a:ext cx="0" cy="0"/>
          <a:chOff x="0" y="0"/>
          <a:chExt cx="0" cy="0"/>
        </a:xfrm>
      </p:grpSpPr>
      <p:sp>
        <p:nvSpPr>
          <p:cNvPr id="2" name="Shape 0"/>
          <p:cNvSpPr/>
          <p:nvPr/>
        </p:nvSpPr>
        <p:spPr>
          <a:xfrm>
            <a:off x="0" y="6729984"/>
            <a:ext cx="12191695" cy="128016"/>
          </a:xfrm>
          <a:prstGeom prst="rect">
            <a:avLst/>
          </a:prstGeom>
          <a:solidFill>
            <a:srgbClr val="B7ED0E"/>
          </a:solidFill>
          <a:ln w="12700">
            <a:solidFill>
              <a:srgbClr val="B7ED0E"/>
            </a:solidFill>
            <a:prstDash val="solid"/>
          </a:ln>
        </p:spPr>
      </p:sp>
      <p:sp>
        <p:nvSpPr>
          <p:cNvPr id="3" name="Text 1"/>
          <p:cNvSpPr txBox="1"/>
          <p:nvPr/>
        </p:nvSpPr>
        <p:spPr>
          <a:xfrm>
            <a:off x="566928" y="502920"/>
            <a:ext cx="2468880" cy="292608"/>
          </a:xfrm>
          <a:prstGeom prst="rect">
            <a:avLst/>
          </a:prstGeom>
          <a:noFill/>
          <a:ln/>
        </p:spPr>
        <p:txBody>
          <a:bodyPr wrap="square" lIns="0" tIns="0" rIns="0" bIns="0" rtlCol="0" anchor="ctr">
            <a:normAutofit/>
          </a:bodyPr>
          <a:lstStyle/>
          <a:p>
            <a:pPr algn="l" indent="0" marL="0">
              <a:lnSpc>
                <a:spcPct val="100000"/>
              </a:lnSpc>
              <a:buNone/>
            </a:pPr>
            <a:r>
              <a:rPr lang="en-US" sz="1100" b="1" spc="160" kern="0" dirty="0">
                <a:solidFill>
                  <a:srgbClr val="B7ED0E"/>
                </a:solidFill>
                <a:latin typeface="Inter" pitchFamily="34" charset="0"/>
                <a:ea typeface="Inter" pitchFamily="34" charset="-122"/>
                <a:cs typeface="Inter" pitchFamily="34" charset="-120"/>
              </a:rPr>
              <a:t>AAPM  /  LAYER FARM</a:t>
            </a:r>
            <a:endParaRPr lang="en-US" sz="1100" dirty="0"/>
          </a:p>
        </p:txBody>
      </p:sp>
      <p:sp>
        <p:nvSpPr>
          <p:cNvPr id="4" name="Text 2"/>
          <p:cNvSpPr txBox="1"/>
          <p:nvPr/>
        </p:nvSpPr>
        <p:spPr>
          <a:xfrm>
            <a:off x="566928" y="1389888"/>
            <a:ext cx="6583680" cy="1417320"/>
          </a:xfrm>
          <a:prstGeom prst="rect">
            <a:avLst/>
          </a:prstGeom>
          <a:noFill/>
          <a:ln/>
        </p:spPr>
        <p:txBody>
          <a:bodyPr wrap="square" lIns="0" tIns="0" rIns="0" bIns="0" rtlCol="0" anchor="ctr">
            <a:normAutofit/>
          </a:bodyPr>
          <a:lstStyle/>
          <a:p>
            <a:pPr algn="l" indent="0" marL="0">
              <a:lnSpc>
                <a:spcPct val="100000"/>
              </a:lnSpc>
              <a:buNone/>
            </a:pPr>
            <a:r>
              <a:rPr lang="en-US" sz="3900" b="1" dirty="0">
                <a:solidFill>
                  <a:srgbClr val="FFFFFF"/>
                </a:solidFill>
                <a:latin typeface="Inter" pitchFamily="34" charset="0"/>
                <a:ea typeface="Inter" pitchFamily="34" charset="-122"/>
                <a:cs typeface="Inter" pitchFamily="34" charset="-120"/>
              </a:rPr>
              <a:t>Siap Memulai</a:t>
            </a:r>
            <a:endParaRPr lang="en-US" sz="3900" dirty="0"/>
          </a:p>
          <a:p>
            <a:pPr algn="l" indent="0" marL="0">
              <a:lnSpc>
                <a:spcPct val="100000"/>
              </a:lnSpc>
              <a:buNone/>
            </a:pPr>
            <a:r>
              <a:rPr lang="en-US" sz="3900" b="1" dirty="0">
                <a:solidFill>
                  <a:srgbClr val="FFFFFF"/>
                </a:solidFill>
                <a:latin typeface="Inter" pitchFamily="34" charset="0"/>
                <a:ea typeface="Inter" pitchFamily="34" charset="-122"/>
                <a:cs typeface="Inter" pitchFamily="34" charset="-120"/>
              </a:rPr>
              <a:t>Digitalisasi Farm Anda?</a:t>
            </a:r>
            <a:endParaRPr lang="en-US" sz="3900" dirty="0"/>
          </a:p>
        </p:txBody>
      </p:sp>
      <p:sp>
        <p:nvSpPr>
          <p:cNvPr id="5" name="Text 3"/>
          <p:cNvSpPr txBox="1"/>
          <p:nvPr/>
        </p:nvSpPr>
        <p:spPr>
          <a:xfrm>
            <a:off x="585216" y="3108960"/>
            <a:ext cx="5394960" cy="859536"/>
          </a:xfrm>
          <a:prstGeom prst="rect">
            <a:avLst/>
          </a:prstGeom>
          <a:noFill/>
          <a:ln/>
        </p:spPr>
        <p:txBody>
          <a:bodyPr wrap="square" lIns="0" tIns="0" rIns="0" bIns="0" rtlCol="0" anchor="ctr">
            <a:normAutofit/>
          </a:bodyPr>
          <a:lstStyle/>
          <a:p>
            <a:pPr algn="l" indent="0" marL="0">
              <a:lnSpc>
                <a:spcPct val="100000"/>
              </a:lnSpc>
              <a:buNone/>
            </a:pPr>
            <a:r>
              <a:rPr lang="en-US" sz="1600" dirty="0">
                <a:solidFill>
                  <a:srgbClr val="C8D4CD"/>
                </a:solidFill>
                <a:latin typeface="Inter" pitchFamily="34" charset="0"/>
                <a:ea typeface="Inter" pitchFamily="34" charset="-122"/>
                <a:cs typeface="Inter" pitchFamily="34" charset="-120"/>
              </a:rPr>
              <a:t>Mulai dari bagian yang paling dekat dengan pekerjaan harian: catat lebih rapi, baca lebih cepat, lalu kembangkan sesuai kebutuhan farm.</a:t>
            </a:r>
            <a:endParaRPr lang="en-US" sz="1600" dirty="0"/>
          </a:p>
        </p:txBody>
      </p:sp>
      <p:sp>
        <p:nvSpPr>
          <p:cNvPr id="6" name="Shape 4"/>
          <p:cNvSpPr/>
          <p:nvPr/>
        </p:nvSpPr>
        <p:spPr>
          <a:xfrm>
            <a:off x="585216" y="4590288"/>
            <a:ext cx="2743200" cy="640080"/>
          </a:xfrm>
          <a:prstGeom prst="roundRect">
            <a:avLst>
              <a:gd name="adj" fmla="val 31429"/>
            </a:avLst>
          </a:prstGeom>
          <a:solidFill>
            <a:srgbClr val="B7ED0E"/>
          </a:solidFill>
          <a:ln w="10160">
            <a:solidFill>
              <a:srgbClr val="B7ED0E"/>
            </a:solidFill>
            <a:prstDash val="solid"/>
          </a:ln>
        </p:spPr>
      </p:sp>
      <p:sp>
        <p:nvSpPr>
          <p:cNvPr id="7" name="Text 5"/>
          <p:cNvSpPr txBox="1"/>
          <p:nvPr/>
        </p:nvSpPr>
        <p:spPr>
          <a:xfrm>
            <a:off x="896112" y="4745736"/>
            <a:ext cx="2148840" cy="274320"/>
          </a:xfrm>
          <a:prstGeom prst="rect">
            <a:avLst/>
          </a:prstGeom>
          <a:noFill/>
          <a:ln/>
        </p:spPr>
        <p:txBody>
          <a:bodyPr wrap="square" lIns="0" tIns="0" rIns="0" bIns="0" rtlCol="0" anchor="ctr">
            <a:normAutofit/>
          </a:bodyPr>
          <a:lstStyle/>
          <a:p>
            <a:pPr algn="ctr" indent="0" marL="0">
              <a:lnSpc>
                <a:spcPct val="100000"/>
              </a:lnSpc>
              <a:buNone/>
            </a:pPr>
            <a:r>
              <a:rPr lang="en-US" sz="1200" b="1" spc="70" kern="0" dirty="0">
                <a:solidFill>
                  <a:srgbClr val="0E251B"/>
                </a:solidFill>
                <a:latin typeface="Inter" pitchFamily="34" charset="0"/>
                <a:ea typeface="Inter" pitchFamily="34" charset="-122"/>
                <a:cs typeface="Inter" pitchFamily="34" charset="-120"/>
              </a:rPr>
              <a:t>JADWALKAN DEMO</a:t>
            </a:r>
            <a:endParaRPr lang="en-US" sz="1200" dirty="0"/>
          </a:p>
        </p:txBody>
      </p:sp>
      <p:sp>
        <p:nvSpPr>
          <p:cNvPr id="8" name="Text 6"/>
          <p:cNvSpPr txBox="1"/>
          <p:nvPr/>
        </p:nvSpPr>
        <p:spPr>
          <a:xfrm>
            <a:off x="594360" y="5513832"/>
            <a:ext cx="4754880" cy="475488"/>
          </a:xfrm>
          <a:prstGeom prst="rect">
            <a:avLst/>
          </a:prstGeom>
          <a:noFill/>
          <a:ln/>
        </p:spPr>
        <p:txBody>
          <a:bodyPr wrap="square" lIns="0" tIns="0" rIns="0" bIns="0" rtlCol="0" anchor="ctr">
            <a:normAutofit/>
          </a:bodyPr>
          <a:lstStyle/>
          <a:p>
            <a:pPr algn="l" indent="0" marL="0">
              <a:lnSpc>
                <a:spcPct val="100000"/>
              </a:lnSpc>
              <a:buNone/>
            </a:pPr>
            <a:r>
              <a:rPr lang="en-US" sz="1000" dirty="0">
                <a:solidFill>
                  <a:srgbClr val="9FB2A6"/>
                </a:solidFill>
                <a:latin typeface="Inter" pitchFamily="34" charset="0"/>
                <a:ea typeface="Inter" pitchFamily="34" charset="-122"/>
                <a:cs typeface="Inter" pitchFamily="34" charset="-120"/>
              </a:rPr>
              <a:t>Diskusi kebutuhan farm → pilih fokus awal → lihat alur yang relevan.</a:t>
            </a:r>
            <a:endParaRPr lang="en-US" sz="1000" dirty="0"/>
          </a:p>
        </p:txBody>
      </p:sp>
      <p:sp>
        <p:nvSpPr>
          <p:cNvPr id="9" name="Shape 7"/>
          <p:cNvSpPr/>
          <p:nvPr/>
        </p:nvSpPr>
        <p:spPr>
          <a:xfrm>
            <a:off x="6528816" y="731520"/>
            <a:ext cx="5074920" cy="5431536"/>
          </a:xfrm>
          <a:prstGeom prst="roundRect">
            <a:avLst>
              <a:gd name="adj" fmla="val 4505"/>
            </a:avLst>
          </a:prstGeom>
          <a:solidFill>
            <a:srgbClr val="18392A"/>
          </a:solidFill>
          <a:ln w="10160">
            <a:solidFill>
              <a:srgbClr val="2F5A43"/>
            </a:solidFill>
            <a:prstDash val="solid"/>
          </a:ln>
        </p:spPr>
      </p:sp>
      <p:sp>
        <p:nvSpPr>
          <p:cNvPr id="10" name="Shape 8"/>
          <p:cNvSpPr/>
          <p:nvPr/>
        </p:nvSpPr>
        <p:spPr>
          <a:xfrm>
            <a:off x="6858000" y="1051560"/>
            <a:ext cx="4416552" cy="2377440"/>
          </a:xfrm>
          <a:prstGeom prst="roundRect">
            <a:avLst>
              <a:gd name="adj" fmla="val 6154"/>
            </a:avLst>
          </a:prstGeom>
          <a:solidFill>
            <a:srgbClr val="EFF7EE"/>
          </a:solidFill>
          <a:ln w="15240">
            <a:solidFill>
              <a:srgbClr val="BED0BD"/>
            </a:solidFill>
            <a:prstDash val="solid"/>
          </a:ln>
        </p:spPr>
      </p:sp>
      <p:sp>
        <p:nvSpPr>
          <p:cNvPr id="11" name="Shape 9"/>
          <p:cNvSpPr/>
          <p:nvPr/>
        </p:nvSpPr>
        <p:spPr>
          <a:xfrm>
            <a:off x="7150608" y="2240280"/>
            <a:ext cx="3831336" cy="0"/>
          </a:xfrm>
          <a:prstGeom prst="line">
            <a:avLst/>
          </a:prstGeom>
          <a:noFill/>
          <a:ln w="10160">
            <a:solidFill>
              <a:srgbClr val="B7C9B8"/>
            </a:solidFill>
            <a:prstDash val="dash"/>
            <a:headEnd type="none"/>
            <a:tailEnd type="none"/>
          </a:ln>
        </p:spPr>
      </p:sp>
      <p:sp>
        <p:nvSpPr>
          <p:cNvPr id="12" name="Shape 10"/>
          <p:cNvSpPr/>
          <p:nvPr/>
        </p:nvSpPr>
        <p:spPr>
          <a:xfrm>
            <a:off x="9066276" y="1325880"/>
            <a:ext cx="0" cy="1828800"/>
          </a:xfrm>
          <a:prstGeom prst="line">
            <a:avLst/>
          </a:prstGeom>
          <a:noFill/>
          <a:ln w="10160">
            <a:solidFill>
              <a:srgbClr val="B7C9B8"/>
            </a:solidFill>
            <a:prstDash val="dash"/>
            <a:headEnd type="none"/>
            <a:tailEnd type="none"/>
          </a:ln>
        </p:spPr>
      </p:sp>
      <p:sp>
        <p:nvSpPr>
          <p:cNvPr id="13" name="Shape 11"/>
          <p:cNvSpPr/>
          <p:nvPr/>
        </p:nvSpPr>
        <p:spPr>
          <a:xfrm>
            <a:off x="7095744" y="1280160"/>
            <a:ext cx="1600200" cy="301752"/>
          </a:xfrm>
          <a:prstGeom prst="roundRect">
            <a:avLst>
              <a:gd name="adj" fmla="val 48485"/>
            </a:avLst>
          </a:prstGeom>
          <a:solidFill>
            <a:srgbClr val="FFFFFF"/>
          </a:solidFill>
          <a:ln w="10160">
            <a:solidFill>
              <a:srgbClr val="FFFFFF"/>
            </a:solidFill>
            <a:prstDash val="solid"/>
          </a:ln>
        </p:spPr>
      </p:sp>
      <p:sp>
        <p:nvSpPr>
          <p:cNvPr id="14" name="Text 12"/>
          <p:cNvSpPr txBox="1"/>
          <p:nvPr/>
        </p:nvSpPr>
        <p:spPr>
          <a:xfrm>
            <a:off x="7214616" y="1307592"/>
            <a:ext cx="1353312" cy="237744"/>
          </a:xfrm>
          <a:prstGeom prst="rect">
            <a:avLst/>
          </a:prstGeom>
          <a:noFill/>
          <a:ln/>
        </p:spPr>
        <p:txBody>
          <a:bodyPr wrap="square" lIns="0" tIns="0" rIns="0" bIns="0" rtlCol="0" anchor="ctr">
            <a:normAutofit/>
          </a:bodyPr>
          <a:lstStyle/>
          <a:p>
            <a:pPr algn="l" indent="0" marL="0">
              <a:lnSpc>
                <a:spcPct val="100000"/>
              </a:lnSpc>
              <a:buNone/>
            </a:pPr>
            <a:r>
              <a:rPr lang="en-US" sz="800" b="1" spc="120" kern="0" dirty="0">
                <a:solidFill>
                  <a:srgbClr val="2F813C"/>
                </a:solidFill>
                <a:latin typeface="Inter" pitchFamily="34" charset="0"/>
                <a:ea typeface="Inter" pitchFamily="34" charset="-122"/>
                <a:cs typeface="Inter" pitchFamily="34" charset="-120"/>
              </a:rPr>
              <a:t>FARM VISUAL</a:t>
            </a:r>
            <a:endParaRPr lang="en-US" sz="800" dirty="0"/>
          </a:p>
        </p:txBody>
      </p:sp>
      <p:sp>
        <p:nvSpPr>
          <p:cNvPr id="15" name="Text 13"/>
          <p:cNvSpPr txBox="1"/>
          <p:nvPr/>
        </p:nvSpPr>
        <p:spPr>
          <a:xfrm>
            <a:off x="7315200" y="1984248"/>
            <a:ext cx="3502152" cy="384048"/>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53326"/>
                </a:solidFill>
                <a:latin typeface="Inter" pitchFamily="34" charset="0"/>
                <a:ea typeface="Inter" pitchFamily="34" charset="-122"/>
                <a:cs typeface="Inter" pitchFamily="34" charset="-120"/>
              </a:rPr>
              <a:t>Farm + aplikasi glimpse</a:t>
            </a:r>
            <a:endParaRPr lang="en-US" sz="1600" dirty="0"/>
          </a:p>
        </p:txBody>
      </p:sp>
      <p:sp>
        <p:nvSpPr>
          <p:cNvPr id="16" name="Text 14"/>
          <p:cNvSpPr txBox="1"/>
          <p:nvPr/>
        </p:nvSpPr>
        <p:spPr>
          <a:xfrm>
            <a:off x="7498080" y="2404872"/>
            <a:ext cx="3136392" cy="530352"/>
          </a:xfrm>
          <a:prstGeom prst="rect">
            <a:avLst/>
          </a:prstGeom>
          <a:noFill/>
          <a:ln/>
        </p:spPr>
        <p:txBody>
          <a:bodyPr wrap="square" lIns="0" tIns="0" rIns="0" bIns="0" rtlCol="0" anchor="ctr">
            <a:normAutofit/>
          </a:bodyPr>
          <a:lstStyle/>
          <a:p>
            <a:pPr algn="ctr" indent="0" marL="0">
              <a:lnSpc>
                <a:spcPct val="100000"/>
              </a:lnSpc>
              <a:buNone/>
            </a:pPr>
            <a:r>
              <a:rPr lang="en-US" sz="900" dirty="0">
                <a:solidFill>
                  <a:srgbClr val="66756D"/>
                </a:solidFill>
                <a:latin typeface="Inter" pitchFamily="34" charset="0"/>
                <a:ea typeface="Inter" pitchFamily="34" charset="-122"/>
                <a:cs typeface="Inter" pitchFamily="34" charset="-120"/>
              </a:rPr>
              <a:t>Gunakan satu visual kuat, bukan kolase UI penuh.</a:t>
            </a:r>
            <a:endParaRPr lang="en-US" sz="900" dirty="0"/>
          </a:p>
        </p:txBody>
      </p:sp>
      <p:sp>
        <p:nvSpPr>
          <p:cNvPr id="17" name="Text 15"/>
          <p:cNvSpPr txBox="1"/>
          <p:nvPr/>
        </p:nvSpPr>
        <p:spPr>
          <a:xfrm>
            <a:off x="6876288" y="3959352"/>
            <a:ext cx="292608" cy="210312"/>
          </a:xfrm>
          <a:prstGeom prst="rect">
            <a:avLst/>
          </a:prstGeom>
          <a:noFill/>
          <a:ln/>
        </p:spPr>
        <p:txBody>
          <a:bodyPr wrap="square" lIns="0" tIns="0" rIns="0" bIns="0" rtlCol="0" anchor="ctr">
            <a:normAutofit/>
          </a:bodyPr>
          <a:lstStyle/>
          <a:p>
            <a:pPr algn="l" indent="0" marL="0">
              <a:lnSpc>
                <a:spcPct val="100000"/>
              </a:lnSpc>
              <a:buNone/>
            </a:pPr>
            <a:r>
              <a:rPr lang="en-US" sz="800" b="1" spc="110" kern="0" dirty="0">
                <a:solidFill>
                  <a:srgbClr val="B7ED0E"/>
                </a:solidFill>
                <a:latin typeface="Inter" pitchFamily="34" charset="0"/>
                <a:ea typeface="Inter" pitchFamily="34" charset="-122"/>
                <a:cs typeface="Inter" pitchFamily="34" charset="-120"/>
              </a:rPr>
              <a:t>01</a:t>
            </a:r>
            <a:endParaRPr lang="en-US" sz="800" dirty="0"/>
          </a:p>
        </p:txBody>
      </p:sp>
      <p:sp>
        <p:nvSpPr>
          <p:cNvPr id="18" name="Text 16"/>
          <p:cNvSpPr txBox="1"/>
          <p:nvPr/>
        </p:nvSpPr>
        <p:spPr>
          <a:xfrm>
            <a:off x="6876288" y="4315968"/>
            <a:ext cx="1078992" cy="347472"/>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FFFFFF"/>
                </a:solidFill>
                <a:latin typeface="Inter" pitchFamily="34" charset="0"/>
                <a:ea typeface="Inter" pitchFamily="34" charset="-122"/>
                <a:cs typeface="Inter" pitchFamily="34" charset="-120"/>
              </a:rPr>
              <a:t>Catat</a:t>
            </a:r>
            <a:endParaRPr lang="en-US" sz="1700" dirty="0"/>
          </a:p>
        </p:txBody>
      </p:sp>
      <p:sp>
        <p:nvSpPr>
          <p:cNvPr id="19" name="Shape 17"/>
          <p:cNvSpPr/>
          <p:nvPr/>
        </p:nvSpPr>
        <p:spPr>
          <a:xfrm>
            <a:off x="8046720" y="3959352"/>
            <a:ext cx="0" cy="1005840"/>
          </a:xfrm>
          <a:prstGeom prst="line">
            <a:avLst/>
          </a:prstGeom>
          <a:noFill/>
          <a:ln w="10160">
            <a:solidFill>
              <a:srgbClr val="416650"/>
            </a:solidFill>
            <a:prstDash val="solid"/>
            <a:headEnd type="none"/>
            <a:tailEnd type="none"/>
          </a:ln>
        </p:spPr>
      </p:sp>
      <p:sp>
        <p:nvSpPr>
          <p:cNvPr id="20" name="Text 18"/>
          <p:cNvSpPr txBox="1"/>
          <p:nvPr/>
        </p:nvSpPr>
        <p:spPr>
          <a:xfrm>
            <a:off x="8339328" y="3959352"/>
            <a:ext cx="292608" cy="210312"/>
          </a:xfrm>
          <a:prstGeom prst="rect">
            <a:avLst/>
          </a:prstGeom>
          <a:noFill/>
          <a:ln/>
        </p:spPr>
        <p:txBody>
          <a:bodyPr wrap="square" lIns="0" tIns="0" rIns="0" bIns="0" rtlCol="0" anchor="ctr">
            <a:normAutofit/>
          </a:bodyPr>
          <a:lstStyle/>
          <a:p>
            <a:pPr algn="l" indent="0" marL="0">
              <a:lnSpc>
                <a:spcPct val="100000"/>
              </a:lnSpc>
              <a:buNone/>
            </a:pPr>
            <a:r>
              <a:rPr lang="en-US" sz="800" b="1" spc="110" kern="0" dirty="0">
                <a:solidFill>
                  <a:srgbClr val="B7ED0E"/>
                </a:solidFill>
                <a:latin typeface="Inter" pitchFamily="34" charset="0"/>
                <a:ea typeface="Inter" pitchFamily="34" charset="-122"/>
                <a:cs typeface="Inter" pitchFamily="34" charset="-120"/>
              </a:rPr>
              <a:t>02</a:t>
            </a:r>
            <a:endParaRPr lang="en-US" sz="800" dirty="0"/>
          </a:p>
        </p:txBody>
      </p:sp>
      <p:sp>
        <p:nvSpPr>
          <p:cNvPr id="21" name="Text 19"/>
          <p:cNvSpPr txBox="1"/>
          <p:nvPr/>
        </p:nvSpPr>
        <p:spPr>
          <a:xfrm>
            <a:off x="8339328" y="4315968"/>
            <a:ext cx="1078992" cy="347472"/>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FFFFFF"/>
                </a:solidFill>
                <a:latin typeface="Inter" pitchFamily="34" charset="0"/>
                <a:ea typeface="Inter" pitchFamily="34" charset="-122"/>
                <a:cs typeface="Inter" pitchFamily="34" charset="-120"/>
              </a:rPr>
              <a:t>Pantau</a:t>
            </a:r>
            <a:endParaRPr lang="en-US" sz="1700" dirty="0"/>
          </a:p>
        </p:txBody>
      </p:sp>
      <p:sp>
        <p:nvSpPr>
          <p:cNvPr id="22" name="Shape 20"/>
          <p:cNvSpPr/>
          <p:nvPr/>
        </p:nvSpPr>
        <p:spPr>
          <a:xfrm>
            <a:off x="9509760" y="3959352"/>
            <a:ext cx="0" cy="1005840"/>
          </a:xfrm>
          <a:prstGeom prst="line">
            <a:avLst/>
          </a:prstGeom>
          <a:noFill/>
          <a:ln w="10160">
            <a:solidFill>
              <a:srgbClr val="416650"/>
            </a:solidFill>
            <a:prstDash val="solid"/>
            <a:headEnd type="none"/>
            <a:tailEnd type="none"/>
          </a:ln>
        </p:spPr>
      </p:sp>
      <p:sp>
        <p:nvSpPr>
          <p:cNvPr id="23" name="Text 21"/>
          <p:cNvSpPr txBox="1"/>
          <p:nvPr/>
        </p:nvSpPr>
        <p:spPr>
          <a:xfrm>
            <a:off x="9802368" y="3959352"/>
            <a:ext cx="292608" cy="210312"/>
          </a:xfrm>
          <a:prstGeom prst="rect">
            <a:avLst/>
          </a:prstGeom>
          <a:noFill/>
          <a:ln/>
        </p:spPr>
        <p:txBody>
          <a:bodyPr wrap="square" lIns="0" tIns="0" rIns="0" bIns="0" rtlCol="0" anchor="ctr">
            <a:normAutofit/>
          </a:bodyPr>
          <a:lstStyle/>
          <a:p>
            <a:pPr algn="l" indent="0" marL="0">
              <a:lnSpc>
                <a:spcPct val="100000"/>
              </a:lnSpc>
              <a:buNone/>
            </a:pPr>
            <a:r>
              <a:rPr lang="en-US" sz="800" b="1" spc="110" kern="0" dirty="0">
                <a:solidFill>
                  <a:srgbClr val="B7ED0E"/>
                </a:solidFill>
                <a:latin typeface="Inter" pitchFamily="34" charset="0"/>
                <a:ea typeface="Inter" pitchFamily="34" charset="-122"/>
                <a:cs typeface="Inter" pitchFamily="34" charset="-120"/>
              </a:rPr>
              <a:t>03</a:t>
            </a:r>
            <a:endParaRPr lang="en-US" sz="800" dirty="0"/>
          </a:p>
        </p:txBody>
      </p:sp>
      <p:sp>
        <p:nvSpPr>
          <p:cNvPr id="24" name="Text 22"/>
          <p:cNvSpPr txBox="1"/>
          <p:nvPr/>
        </p:nvSpPr>
        <p:spPr>
          <a:xfrm>
            <a:off x="9802368" y="4315968"/>
            <a:ext cx="1078992" cy="347472"/>
          </a:xfrm>
          <a:prstGeom prst="rect">
            <a:avLst/>
          </a:prstGeom>
          <a:noFill/>
          <a:ln/>
        </p:spPr>
        <p:txBody>
          <a:bodyPr wrap="square" lIns="0" tIns="0" rIns="0" bIns="0" rtlCol="0" anchor="ctr">
            <a:normAutofit/>
          </a:bodyPr>
          <a:lstStyle/>
          <a:p>
            <a:pPr algn="l" indent="0" marL="0">
              <a:lnSpc>
                <a:spcPct val="100000"/>
              </a:lnSpc>
              <a:buNone/>
            </a:pPr>
            <a:r>
              <a:rPr lang="en-US" sz="1700" b="1" dirty="0">
                <a:solidFill>
                  <a:srgbClr val="FFFFFF"/>
                </a:solidFill>
                <a:latin typeface="Inter" pitchFamily="34" charset="0"/>
                <a:ea typeface="Inter" pitchFamily="34" charset="-122"/>
                <a:cs typeface="Inter" pitchFamily="34" charset="-120"/>
              </a:rPr>
              <a:t>Tinjau</a:t>
            </a:r>
            <a:endParaRPr lang="en-US" sz="1700" dirty="0"/>
          </a:p>
        </p:txBody>
      </p:sp>
      <p:sp>
        <p:nvSpPr>
          <p:cNvPr id="25" name="Text 23"/>
          <p:cNvSpPr txBox="1"/>
          <p:nvPr/>
        </p:nvSpPr>
        <p:spPr>
          <a:xfrm>
            <a:off x="6876288" y="5266944"/>
            <a:ext cx="2560320" cy="274320"/>
          </a:xfrm>
          <a:prstGeom prst="rect">
            <a:avLst/>
          </a:prstGeom>
          <a:noFill/>
          <a:ln/>
        </p:spPr>
        <p:txBody>
          <a:bodyPr wrap="square" lIns="0" tIns="0" rIns="0" bIns="0" rtlCol="0" anchor="ctr">
            <a:normAutofit/>
          </a:bodyPr>
          <a:lstStyle/>
          <a:p>
            <a:pPr algn="l" indent="0" marL="0">
              <a:lnSpc>
                <a:spcPct val="100000"/>
              </a:lnSpc>
              <a:buNone/>
            </a:pPr>
            <a:r>
              <a:rPr lang="en-US" sz="1000" b="1" dirty="0">
                <a:solidFill>
                  <a:srgbClr val="BBD1C2"/>
                </a:solidFill>
                <a:latin typeface="Inter" pitchFamily="34" charset="0"/>
                <a:ea typeface="Inter" pitchFamily="34" charset="-122"/>
                <a:cs typeface="Inter" pitchFamily="34" charset="-120"/>
              </a:rPr>
              <a:t>AAPM • Tumbuh Bersama</a:t>
            </a:r>
            <a:endParaRPr lang="en-US" sz="1000" dirty="0"/>
          </a:p>
        </p:txBody>
      </p:sp>
      <p:sp>
        <p:nvSpPr>
          <p:cNvPr id="26" name="Text 24"/>
          <p:cNvSpPr txBox="1"/>
          <p:nvPr/>
        </p:nvSpPr>
        <p:spPr>
          <a:xfrm>
            <a:off x="9345168" y="5266944"/>
            <a:ext cx="1901952" cy="329184"/>
          </a:xfrm>
          <a:prstGeom prst="rect">
            <a:avLst/>
          </a:prstGeom>
          <a:noFill/>
          <a:ln/>
        </p:spPr>
        <p:txBody>
          <a:bodyPr wrap="square" lIns="0" tIns="0" rIns="0" bIns="0" rtlCol="0" anchor="ctr">
            <a:normAutofit/>
          </a:bodyPr>
          <a:lstStyle/>
          <a:p>
            <a:pPr algn="r" indent="0" marL="0">
              <a:lnSpc>
                <a:spcPct val="100000"/>
              </a:lnSpc>
              <a:buNone/>
            </a:pPr>
            <a:r>
              <a:rPr lang="en-US" sz="800" dirty="0">
                <a:solidFill>
                  <a:srgbClr val="8DA395"/>
                </a:solidFill>
                <a:latin typeface="Inter" pitchFamily="34" charset="0"/>
                <a:ea typeface="Inter" pitchFamily="34" charset="-122"/>
                <a:cs typeface="Inter" pitchFamily="34" charset="-120"/>
              </a:rPr>
              <a:t>Template CTA — ganti kontak / PIC saat akan digunakan.</a:t>
            </a:r>
            <a:endParaRPr lang="en-US" sz="800" dirty="0"/>
          </a:p>
        </p:txBody>
      </p:sp>
      <p:sp>
        <p:nvSpPr>
          <p:cNvPr id="25" name="Slide Number Placeholder 0"/>
          <p:cNvSpPr>
            <a:spLocks noGrp="1"/>
          </p:cNvSpPr>
          <p:nvPr>
            <p:ph type="sldNum" sz="quarter" idx="4294967295"/>
          </p:nvPr>
        </p:nvSpPr>
        <p:spPr>
          <a:xfrm>
            <a:off x="11384280" y="6446520"/>
            <a:ext cx="4114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7877F"/>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PT Agung Abadi Putra Mandiri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AAPM Layer Farm — Pengenalan Pelanggan</dc:title>
  <dc:subject>AAPM Layer Farm — Customer Introduction Template</dc:subject>
  <dc:creator>OpenAI</dc:creator>
  <cp:lastModifiedBy>OpenAI</cp:lastModifiedBy>
  <cp:revision>1</cp:revision>
  <dcterms:created xsi:type="dcterms:W3CDTF">2026-09-01T07:17:04Z</dcterms:created>
  <dcterms:modified xsi:type="dcterms:W3CDTF">2026-09-01T07:17:04Z</dcterms:modified>
</cp:coreProperties>
</file>